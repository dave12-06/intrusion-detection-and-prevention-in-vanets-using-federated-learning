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59" r:id="rId5"/>
    <p:sldId id="270" r:id="rId6"/>
    <p:sldId id="264" r:id="rId7"/>
    <p:sldId id="276" r:id="rId8"/>
    <p:sldId id="282" r:id="rId9"/>
    <p:sldId id="265" r:id="rId10"/>
    <p:sldId id="279" r:id="rId11"/>
    <p:sldId id="283" r:id="rId12"/>
    <p:sldId id="281" r:id="rId13"/>
    <p:sldId id="260" r:id="rId14"/>
  </p:sldIdLst>
  <p:sldSz cx="12192000" cy="6858000"/>
  <p:notesSz cx="6858000" cy="9144000"/>
  <p:embeddedFontLst>
    <p:embeddedFont>
      <p:font typeface="Proxima Nova" panose="020B0604020202020204" charset="0"/>
      <p:regular r:id="rId16"/>
    </p:embeddedFont>
    <p:embeddedFont>
      <p:font typeface="Proxima Nova Rg" panose="02000506030000020004" charset="0"/>
      <p:regular r:id="rId17"/>
      <p: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B0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74" d="100"/>
          <a:sy n="74" d="100"/>
        </p:scale>
        <p:origin x="1013"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D9D082B-6520-E5A1-DA84-6058457AFA2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61FA549C-3C89-D04E-6D11-1FC47E1E3A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4283F8E4-C7DF-8D78-7FAC-752BA9AB57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6889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7B79146-C8D8-B6D3-9381-659EA6DF549E}"/>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66E87366-54A7-B7CF-2227-6510F6E2E0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EABAB7AF-BFEA-6E21-B871-27B4137BEB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1579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C855F58-D31C-1F4C-5B56-ABC745430190}"/>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DED2562C-BB4B-F614-8F52-3C8072DC763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36DEAE18-B265-78B6-EA89-636842B641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2253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E6169F9-A2BA-635E-8B78-ADF4B9020CA9}"/>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485B5C22-12B6-D49F-3937-1FB9A0BCC8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7ED2DB34-74F6-E989-FB13-E23E3DF6CB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13749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F7E3EF1-E42C-5BFF-7321-4F4C9BF2E3B5}"/>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0BB68469-87A7-227D-089D-EDA399B18A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B05FD198-773E-2425-A889-03B8485B19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1627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EE6810E-E23F-D94D-CB39-D7CF168940AA}"/>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9B4D9852-CB76-C0D5-C069-84874800CD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02FB1F2D-B359-4AEB-64D4-1413E9DADB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52398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45CE8E8-6099-1DF3-B23C-C41B31B30C1E}"/>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A01A13D9-2D75-F97C-E4B1-F3F87A16CB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B4D622E2-2852-C3E3-5DA4-16E3E412A3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56574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94F1BC5-0E26-CA7D-8608-F2A0BB5FEDE7}"/>
            </a:ext>
          </a:extLst>
        </p:cNvPr>
        <p:cNvGrpSpPr/>
        <p:nvPr/>
      </p:nvGrpSpPr>
      <p:grpSpPr>
        <a:xfrm>
          <a:off x="0" y="0"/>
          <a:ext cx="0" cy="0"/>
          <a:chOff x="0" y="0"/>
          <a:chExt cx="0" cy="0"/>
        </a:xfrm>
      </p:grpSpPr>
      <p:sp>
        <p:nvSpPr>
          <p:cNvPr id="102" name="Google Shape;102;p4:notes">
            <a:extLst>
              <a:ext uri="{FF2B5EF4-FFF2-40B4-BE49-F238E27FC236}">
                <a16:creationId xmlns:a16="http://schemas.microsoft.com/office/drawing/2014/main" id="{20B4A89D-955A-9695-BBF5-D4D978A8AE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3" name="Google Shape;103;p4:notes">
            <a:extLst>
              <a:ext uri="{FF2B5EF4-FFF2-40B4-BE49-F238E27FC236}">
                <a16:creationId xmlns:a16="http://schemas.microsoft.com/office/drawing/2014/main" id="{51AEEAEB-82CF-16E7-43C3-667FB03F45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4185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5"/>
          <p:cNvSpPr>
            <a:spLocks noGrp="1"/>
          </p:cNvSpPr>
          <p:nvPr>
            <p:ph type="pic" idx="2"/>
          </p:nvPr>
        </p:nvSpPr>
        <p:spPr>
          <a:xfrm>
            <a:off x="5183188" y="987425"/>
            <a:ext cx="6172200" cy="4873625"/>
          </a:xfrm>
          <a:prstGeom prst="rect">
            <a:avLst/>
          </a:prstGeom>
          <a:noFill/>
          <a:ln>
            <a:noFill/>
          </a:ln>
        </p:spPr>
      </p:sp>
      <p:sp>
        <p:nvSpPr>
          <p:cNvPr id="64" name="Google Shape;64;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9" name="Google Shape;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 name="Google Shape;1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87"/>
        <p:cNvGrpSpPr/>
        <p:nvPr/>
      </p:nvGrpSpPr>
      <p:grpSpPr>
        <a:xfrm>
          <a:off x="0" y="0"/>
          <a:ext cx="0" cy="0"/>
          <a:chOff x="0" y="0"/>
          <a:chExt cx="0" cy="0"/>
        </a:xfrm>
      </p:grpSpPr>
      <p:sp>
        <p:nvSpPr>
          <p:cNvPr id="88" name="Google Shape;88;p2"/>
          <p:cNvSpPr txBox="1"/>
          <p:nvPr/>
        </p:nvSpPr>
        <p:spPr>
          <a:xfrm>
            <a:off x="3243023" y="3752378"/>
            <a:ext cx="6973173" cy="1015632"/>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rPr>
              <a:t>Team Member 1: </a:t>
            </a:r>
            <a:r>
              <a:rPr lang="en-US" sz="1800" b="0" i="0" u="none" strike="noStrike" cap="none"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Dev Sejpal (92200103134) (TC5)</a:t>
            </a:r>
            <a:endParaRPr dirty="0">
              <a:solidFill>
                <a:srgbClr val="FF0000"/>
              </a:solidFill>
              <a:latin typeface="Proxima Nova Rg" panose="02000506030000020004" pitchFamily="2" charset="0"/>
            </a:endParaRPr>
          </a:p>
          <a:p>
            <a:pPr lvl="0"/>
            <a:r>
              <a:rPr lang="en-US" sz="18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rPr>
              <a:t>Team Member 2: </a:t>
            </a:r>
            <a:r>
              <a:rPr lang="en-US" sz="1800"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Dharmil Parekh</a:t>
            </a:r>
            <a:r>
              <a:rPr lang="en-US" sz="1800" b="0" i="0" u="none" strike="noStrike" cap="none"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 (</a:t>
            </a:r>
            <a:r>
              <a:rPr lang="en-US" sz="1800"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92200103144</a:t>
            </a:r>
            <a:r>
              <a:rPr lang="en-US" sz="1800" b="0" i="0" u="none" strike="noStrike" cap="none"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 (TC5)</a:t>
            </a:r>
            <a:endParaRPr dirty="0">
              <a:solidFill>
                <a:srgbClr val="FF0000"/>
              </a:solidFill>
              <a:latin typeface="Proxima Nova Rg" panose="02000506030000020004" pitchFamily="2" charset="0"/>
            </a:endParaRPr>
          </a:p>
          <a:p>
            <a:pPr marL="0" marR="0" lvl="0" indent="0" algn="l" rtl="0">
              <a:spcBef>
                <a:spcPts val="0"/>
              </a:spcBef>
              <a:spcAft>
                <a:spcPts val="0"/>
              </a:spcAft>
              <a:buNone/>
            </a:pPr>
            <a:endParaRPr sz="18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89" name="Google Shape;89;p2"/>
          <p:cNvSpPr txBox="1"/>
          <p:nvPr/>
        </p:nvSpPr>
        <p:spPr>
          <a:xfrm>
            <a:off x="2468933" y="2539225"/>
            <a:ext cx="7494109" cy="1213153"/>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800"/>
              <a:buFont typeface="Proxima Nova" panose="02000506030000020004"/>
              <a:buNone/>
            </a:pPr>
            <a:r>
              <a:rPr lang="en-US" sz="2800" b="1" dirty="0">
                <a:solidFill>
                  <a:srgbClr val="29B0C3"/>
                </a:solidFill>
                <a:latin typeface="Proxima Nova Rg" panose="02000506030000020004" pitchFamily="2" charset="0"/>
                <a:sym typeface="Proxima Nova" panose="02000506030000020004"/>
              </a:rPr>
              <a:t>Intrusion Detection and Prevention in VANET using Federated Learning</a:t>
            </a:r>
            <a:endParaRPr lang="en-US" b="1" dirty="0">
              <a:solidFill>
                <a:srgbClr val="29B0C3"/>
              </a:solidFill>
              <a:latin typeface="Proxima Nova Rg" panose="02000506030000020004" pitchFamily="2" charset="0"/>
            </a:endParaRPr>
          </a:p>
          <a:p>
            <a:pPr marL="12700" marR="0" lvl="0" indent="0" algn="ctr" rtl="0">
              <a:lnSpc>
                <a:spcPct val="100000"/>
              </a:lnSpc>
              <a:spcBef>
                <a:spcPts val="0"/>
              </a:spcBef>
              <a:spcAft>
                <a:spcPts val="0"/>
              </a:spcAft>
              <a:buClr>
                <a:srgbClr val="04A2B9"/>
              </a:buClr>
              <a:buSzPts val="2800"/>
              <a:buFont typeface="Proxima Nova" panose="02000506030000020004"/>
              <a:buNone/>
            </a:pPr>
            <a: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Team ID: </a:t>
            </a:r>
            <a:r>
              <a:rPr lang="en-US" sz="2200"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8PRO_011</a:t>
            </a:r>
            <a:endParaRPr sz="2200" b="0" i="0" u="none" strike="noStrike" cap="none"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90" name="Google Shape;90;p2"/>
          <p:cNvSpPr txBox="1"/>
          <p:nvPr/>
        </p:nvSpPr>
        <p:spPr>
          <a:xfrm>
            <a:off x="5457310" y="4624957"/>
            <a:ext cx="1272300" cy="4617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a:solidFill>
                  <a:srgbClr val="595959"/>
                </a:solidFill>
                <a:latin typeface="Proxima Nova" panose="02000506030000020004"/>
                <a:ea typeface="Proxima Nova" panose="02000506030000020004"/>
                <a:cs typeface="Proxima Nova" panose="02000506030000020004"/>
                <a:sym typeface="Proxima Nova" panose="02000506030000020004"/>
              </a:rPr>
              <a:t>Guided By</a:t>
            </a:r>
          </a:p>
        </p:txBody>
      </p:sp>
      <p:sp>
        <p:nvSpPr>
          <p:cNvPr id="91" name="Google Shape;91;p2"/>
          <p:cNvSpPr txBox="1"/>
          <p:nvPr/>
        </p:nvSpPr>
        <p:spPr>
          <a:xfrm>
            <a:off x="3745358" y="4950644"/>
            <a:ext cx="5742683" cy="461635"/>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rPr>
              <a:t>Internal Guide Name: </a:t>
            </a:r>
            <a:r>
              <a:rPr lang="en-US" sz="1800" b="0" i="0" u="none" strike="noStrike" cap="none"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Prof. Ravikumar Natrajan</a:t>
            </a:r>
            <a:endParaRPr lang="en-US" dirty="0">
              <a:latin typeface="Proxima Nova Rg" panose="02000506030000020004" pitchFamily="2" charset="0"/>
            </a:endParaRPr>
          </a:p>
        </p:txBody>
      </p:sp>
      <p:sp>
        <p:nvSpPr>
          <p:cNvPr id="93" name="Google Shape;93;p2"/>
          <p:cNvSpPr txBox="1"/>
          <p:nvPr/>
        </p:nvSpPr>
        <p:spPr>
          <a:xfrm>
            <a:off x="2545715" y="1392976"/>
            <a:ext cx="7095490" cy="1195199"/>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200"/>
              <a:buFont typeface="Proxima Nova" panose="02000506030000020004"/>
              <a:buNone/>
            </a:pPr>
            <a:r>
              <a:rPr lang="en-US" sz="320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Major Project-</a:t>
            </a:r>
            <a:r>
              <a:rPr lang="en-IN" altLang="en-US" sz="320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II</a:t>
            </a:r>
            <a:r>
              <a:rPr lang="en-US" sz="320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(01CE0</a:t>
            </a:r>
            <a:r>
              <a:rPr lang="en-IN" altLang="en-US" sz="3200" i="0" u="none" strike="noStrike" cap="none" dirty="0">
                <a:solidFill>
                  <a:srgbClr val="29B0C3"/>
                </a:solidFill>
                <a:latin typeface="Proxima Nova Rg" panose="02000506030000020004" pitchFamily="2" charset="0"/>
                <a:ea typeface="Proxima Nova" panose="02000506030000020004"/>
                <a:cs typeface="Proxima Nova" panose="02000506030000020004"/>
                <a:sym typeface="Proxima Nova" panose="02000506030000020004"/>
              </a:rPr>
              <a:t>807</a:t>
            </a:r>
            <a:r>
              <a:rPr lang="en-US" sz="320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t>
            </a:r>
            <a:r>
              <a:rPr lang="en-IN" altLang="en-US" sz="320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Semester 8</a:t>
            </a:r>
            <a:endParaRPr sz="3200" dirty="0">
              <a:latin typeface="Proxima Nova Rg" panose="02000506030000020004" pitchFamily="2" charset="0"/>
            </a:endParaRPr>
          </a:p>
          <a:p>
            <a:pPr marL="12700" marR="0" lvl="0" indent="0" algn="ctr" rtl="0">
              <a:lnSpc>
                <a:spcPct val="100000"/>
              </a:lnSpc>
              <a:spcBef>
                <a:spcPts val="100"/>
              </a:spcBef>
              <a:spcAft>
                <a:spcPts val="0"/>
              </a:spcAft>
              <a:buClr>
                <a:srgbClr val="04A2B9"/>
              </a:buClr>
              <a:buSzPts val="2200"/>
              <a:buFont typeface="Proxima Nova" panose="02000506030000020004"/>
              <a:buNone/>
            </a:pPr>
            <a: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Review 1 </a:t>
            </a:r>
            <a:b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br>
            <a: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t>
            </a:r>
            <a:r>
              <a:rPr lang="en-US" sz="2200" b="0" i="0" u="none" strike="noStrike" cap="none" dirty="0">
                <a:solidFill>
                  <a:srgbClr val="FF0000"/>
                </a:solidFill>
                <a:latin typeface="Proxima Nova Rg" panose="02000506030000020004" pitchFamily="2" charset="0"/>
                <a:ea typeface="Proxima Nova" panose="02000506030000020004"/>
                <a:cs typeface="Proxima Nova" panose="02000506030000020004"/>
                <a:sym typeface="Proxima Nova" panose="02000506030000020004"/>
              </a:rPr>
              <a:t>08/11/2025</a:t>
            </a:r>
            <a:r>
              <a:rPr lang="en-US" sz="22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t>
            </a:r>
            <a:endParaRPr sz="22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94" name="Google Shape;94;p2"/>
          <p:cNvSpPr txBox="1"/>
          <p:nvPr/>
        </p:nvSpPr>
        <p:spPr>
          <a:xfrm>
            <a:off x="1804581" y="5573716"/>
            <a:ext cx="8297381" cy="936154"/>
          </a:xfrm>
          <a:prstGeom prst="rect">
            <a:avLst/>
          </a:prstGeom>
          <a:noFill/>
          <a:ln>
            <a:noFill/>
          </a:ln>
        </p:spPr>
        <p:txBody>
          <a:bodyPr spcFirstLastPara="1" wrap="square" lIns="0" tIns="12700" rIns="0" bIns="0" anchor="ctr" anchorCtr="0">
            <a:spAutoFit/>
          </a:bodyPr>
          <a:lstStyle/>
          <a:p>
            <a:pPr marL="12700" marR="0" lvl="0" indent="0" algn="ctr" rtl="0">
              <a:lnSpc>
                <a:spcPct val="100000"/>
              </a:lnSpc>
              <a:spcBef>
                <a:spcPts val="0"/>
              </a:spcBef>
              <a:spcAft>
                <a:spcPts val="0"/>
              </a:spcAft>
              <a:buClr>
                <a:srgbClr val="04A2B9"/>
              </a:buClr>
              <a:buSzPts val="2400"/>
              <a:buFont typeface="Proxima Nova" panose="02000506030000020004"/>
              <a:buNone/>
            </a:pPr>
            <a:r>
              <a:rPr lang="en-US" sz="24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Department of Computer Engineering,</a:t>
            </a:r>
            <a:br>
              <a:rPr lang="en-US" sz="24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br>
            <a:r>
              <a:rPr lang="en-US" sz="24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Faculty of Engineering &amp; Technology</a:t>
            </a:r>
            <a:r>
              <a:rPr lang="en-US" sz="3600" b="0" i="0" u="none" strike="noStrike" cap="none"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 </a:t>
            </a:r>
            <a:endParaRPr sz="3600" b="0" i="0" u="none" strike="noStrike" cap="none" dirty="0">
              <a:solidFill>
                <a:schemeClr val="dk1"/>
              </a:solidFill>
              <a:latin typeface="Proxima Nova Rg" panose="02000506030000020004" pitchFamily="2" charset="0"/>
              <a:ea typeface="Proxima Nova" panose="02000506030000020004"/>
              <a:cs typeface="Proxima Nova" panose="02000506030000020004"/>
              <a:sym typeface="Proxima Nova" panose="020005060300000200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98"/>
        <p:cNvGrpSpPr/>
        <p:nvPr/>
      </p:nvGrpSpPr>
      <p:grpSpPr>
        <a:xfrm>
          <a:off x="0" y="0"/>
          <a:ext cx="0" cy="0"/>
          <a:chOff x="0" y="0"/>
          <a:chExt cx="0" cy="0"/>
        </a:xfrm>
      </p:grpSpPr>
      <p:sp>
        <p:nvSpPr>
          <p:cNvPr id="99" name="Google Shape;99;p3"/>
          <p:cNvSpPr txBox="1">
            <a:spLocks noGrp="1"/>
          </p:cNvSpPr>
          <p:nvPr>
            <p:ph type="title"/>
          </p:nvPr>
        </p:nvSpPr>
        <p:spPr>
          <a:xfrm>
            <a:off x="534259" y="309562"/>
            <a:ext cx="2320909" cy="382156"/>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400" b="1" dirty="0">
                <a:solidFill>
                  <a:srgbClr val="04A2B9"/>
                </a:solidFill>
                <a:latin typeface="Proxima Nova" panose="02000506030000020004"/>
                <a:ea typeface="Proxima Nova" panose="02000506030000020004"/>
                <a:cs typeface="Proxima Nova" panose="02000506030000020004"/>
                <a:sym typeface="Proxima Nova" panose="02000506030000020004"/>
              </a:rPr>
              <a:t>Outline</a:t>
            </a:r>
            <a:endParaRPr sz="2400" b="1" dirty="0">
              <a:latin typeface="Proxima Nova" panose="02000506030000020004"/>
              <a:ea typeface="Proxima Nova" panose="02000506030000020004"/>
              <a:cs typeface="Proxima Nova" panose="02000506030000020004"/>
              <a:sym typeface="Proxima Nova" panose="02000506030000020004"/>
            </a:endParaRPr>
          </a:p>
        </p:txBody>
      </p:sp>
      <p:sp>
        <p:nvSpPr>
          <p:cNvPr id="2" name="TextBox 1">
            <a:extLst>
              <a:ext uri="{FF2B5EF4-FFF2-40B4-BE49-F238E27FC236}">
                <a16:creationId xmlns:a16="http://schemas.microsoft.com/office/drawing/2014/main" id="{A0DAD221-2742-2AB3-3472-39CC7B60B25B}"/>
              </a:ext>
            </a:extLst>
          </p:cNvPr>
          <p:cNvSpPr txBox="1"/>
          <p:nvPr/>
        </p:nvSpPr>
        <p:spPr>
          <a:xfrm>
            <a:off x="534259" y="1347170"/>
            <a:ext cx="5137392" cy="3785652"/>
          </a:xfrm>
          <a:prstGeom prst="rect">
            <a:avLst/>
          </a:prstGeom>
          <a:noFill/>
        </p:spPr>
        <p:txBody>
          <a:bodyPr wrap="square" rtlCol="0">
            <a:spAutoFit/>
          </a:bodyPr>
          <a:lstStyle/>
          <a:p>
            <a:pPr marL="342900" indent="-342900">
              <a:buFont typeface="Arial" panose="020B0604020202020204" pitchFamily="34" charset="0"/>
              <a:buChar char="•"/>
            </a:pPr>
            <a:r>
              <a:rPr lang="en-IN" sz="3000" dirty="0">
                <a:latin typeface="Proxima Nova Rg" panose="02000506030000020004" pitchFamily="2" charset="0"/>
              </a:rPr>
              <a:t>Abstract</a:t>
            </a:r>
          </a:p>
          <a:p>
            <a:pPr marL="342900" indent="-342900">
              <a:buFont typeface="Arial" panose="020B0604020202020204" pitchFamily="34" charset="0"/>
              <a:buChar char="•"/>
            </a:pPr>
            <a:r>
              <a:rPr lang="en-IN" sz="3000" dirty="0">
                <a:latin typeface="Proxima Nova Rg" panose="02000506030000020004" pitchFamily="2" charset="0"/>
              </a:rPr>
              <a:t>Introduction</a:t>
            </a:r>
          </a:p>
          <a:p>
            <a:pPr marL="342900" indent="-342900">
              <a:buFont typeface="Arial" panose="020B0604020202020204" pitchFamily="34" charset="0"/>
              <a:buChar char="•"/>
            </a:pPr>
            <a:r>
              <a:rPr lang="en-IN" sz="3000" dirty="0">
                <a:latin typeface="Proxima Nova Rg" panose="02000506030000020004" pitchFamily="2" charset="0"/>
              </a:rPr>
              <a:t>Literature Review</a:t>
            </a:r>
          </a:p>
          <a:p>
            <a:pPr marL="342900" indent="-342900">
              <a:buFont typeface="Arial" panose="020B0604020202020204" pitchFamily="34" charset="0"/>
              <a:buChar char="•"/>
            </a:pPr>
            <a:r>
              <a:rPr lang="en-IN" sz="3000" dirty="0">
                <a:latin typeface="Proxima Nova Rg" panose="02000506030000020004" pitchFamily="2" charset="0"/>
              </a:rPr>
              <a:t>Research Gap</a:t>
            </a:r>
          </a:p>
          <a:p>
            <a:pPr marL="342900" indent="-342900">
              <a:buFont typeface="Arial" panose="020B0604020202020204" pitchFamily="34" charset="0"/>
              <a:buChar char="•"/>
            </a:pPr>
            <a:r>
              <a:rPr lang="en-IN" sz="3000" dirty="0">
                <a:latin typeface="Proxima Nova Rg" panose="02000506030000020004" pitchFamily="2" charset="0"/>
              </a:rPr>
              <a:t>Work Flow</a:t>
            </a:r>
          </a:p>
          <a:p>
            <a:pPr marL="342900" indent="-342900">
              <a:buFont typeface="Arial" panose="020B0604020202020204" pitchFamily="34" charset="0"/>
              <a:buChar char="•"/>
            </a:pPr>
            <a:r>
              <a:rPr lang="en-IN" sz="3000" dirty="0">
                <a:latin typeface="Proxima Nova Rg" panose="02000506030000020004" pitchFamily="2" charset="0"/>
              </a:rPr>
              <a:t>Methodology</a:t>
            </a:r>
          </a:p>
          <a:p>
            <a:pPr marL="342900" indent="-342900">
              <a:buFont typeface="Arial" panose="020B0604020202020204" pitchFamily="34" charset="0"/>
              <a:buChar char="•"/>
            </a:pPr>
            <a:r>
              <a:rPr lang="en-IN" sz="3000" dirty="0">
                <a:latin typeface="Proxima Nova Rg" panose="02000506030000020004" pitchFamily="2" charset="0"/>
              </a:rPr>
              <a:t>Graphs</a:t>
            </a:r>
          </a:p>
          <a:p>
            <a:pPr marL="342900" indent="-342900">
              <a:buFont typeface="Arial" panose="020B0604020202020204" pitchFamily="34" charset="0"/>
              <a:buChar char="•"/>
            </a:pPr>
            <a:r>
              <a:rPr lang="en-IN" sz="3000" dirty="0">
                <a:latin typeface="Proxima Nova Rg" panose="02000506030000020004" pitchFamily="2" charset="0"/>
              </a:rPr>
              <a:t>Tools and Technologies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p:cNvGrpSpPr/>
        <p:nvPr/>
      </p:nvGrpSpPr>
      <p:grpSpPr>
        <a:xfrm>
          <a:off x="0" y="0"/>
          <a:ext cx="0" cy="0"/>
          <a:chOff x="0" y="0"/>
          <a:chExt cx="0" cy="0"/>
        </a:xfrm>
      </p:grpSpPr>
      <p:sp>
        <p:nvSpPr>
          <p:cNvPr id="105" name="Google Shape;105;p4"/>
          <p:cNvSpPr txBox="1">
            <a:spLocks noGrp="1"/>
          </p:cNvSpPr>
          <p:nvPr>
            <p:ph type="title"/>
          </p:nvPr>
        </p:nvSpPr>
        <p:spPr>
          <a:xfrm>
            <a:off x="534259" y="278784"/>
            <a:ext cx="3165222" cy="443711"/>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Abstract</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3" name="TextBox 2">
            <a:extLst>
              <a:ext uri="{FF2B5EF4-FFF2-40B4-BE49-F238E27FC236}">
                <a16:creationId xmlns:a16="http://schemas.microsoft.com/office/drawing/2014/main" id="{4C051811-7D7D-7BDA-18AC-4316F6ECA93E}"/>
              </a:ext>
            </a:extLst>
          </p:cNvPr>
          <p:cNvSpPr txBox="1"/>
          <p:nvPr/>
        </p:nvSpPr>
        <p:spPr>
          <a:xfrm>
            <a:off x="485397" y="1298604"/>
            <a:ext cx="11373881" cy="4190314"/>
          </a:xfrm>
          <a:prstGeom prst="rect">
            <a:avLst/>
          </a:prstGeom>
          <a:noFill/>
        </p:spPr>
        <p:txBody>
          <a:bodyPr wrap="square" rtlCol="0">
            <a:spAutoFit/>
          </a:bodyPr>
          <a:lstStyle/>
          <a:p>
            <a:pPr algn="just">
              <a:lnSpc>
                <a:spcPct val="150000"/>
              </a:lnSpc>
            </a:pPr>
            <a:r>
              <a:rPr lang="en-IN" sz="2000" dirty="0"/>
              <a:t>Vehicular Ad Hoc Networks (VANETs) form the backbone of modern intelligent transportation systems, enabling real-time communication between vehicles and roadside infrastructure. However, their decentralized and highly mobile nature exposes them to numerous cyber-threats, including </a:t>
            </a:r>
            <a:r>
              <a:rPr lang="en-IN" sz="2000" dirty="0" err="1"/>
              <a:t>gray</a:t>
            </a:r>
            <a:r>
              <a:rPr lang="en-IN" sz="2000" dirty="0"/>
              <a:t>-hole attacks, spoofing, false message injection, jamming, and CAN-bus manipulation. Conventional machine-learning-based intrusion detection systems require centralized data aggregation, raising privacy concerns, scalability limitations, and high communication overhead. To address these challenges, this work proposes a </a:t>
            </a:r>
            <a:r>
              <a:rPr lang="en-IN" sz="2000" b="1" dirty="0"/>
              <a:t>Federated Learning–enabled Intrusion Detection and Prevention System (FL-IDPS)</a:t>
            </a:r>
            <a:r>
              <a:rPr lang="en-IN" sz="2000" dirty="0"/>
              <a:t> that collaboratively learns global threat patterns without sharing raw vehicular data.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A30C0BB5-3DC8-E38E-317B-51E8ADDE9054}"/>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8F7D5A0C-028C-A4E5-19E5-B847255A45C9}"/>
              </a:ext>
            </a:extLst>
          </p:cNvPr>
          <p:cNvSpPr txBox="1">
            <a:spLocks noGrp="1"/>
          </p:cNvSpPr>
          <p:nvPr>
            <p:ph type="title"/>
          </p:nvPr>
        </p:nvSpPr>
        <p:spPr>
          <a:xfrm>
            <a:off x="534259" y="278784"/>
            <a:ext cx="3165222" cy="443711"/>
          </a:xfrm>
          <a:prstGeom prst="rect">
            <a:avLst/>
          </a:prstGeom>
          <a:noFill/>
          <a:ln>
            <a:noFill/>
          </a:ln>
        </p:spPr>
        <p:txBody>
          <a:bodyPr spcFirstLastPara="1" wrap="square" lIns="0" tIns="12700" rIns="0" bIns="0" anchor="ctr" anchorCtr="0">
            <a:spAutoFit/>
          </a:bodyPr>
          <a:lstStyle/>
          <a:p>
            <a:pPr marL="12700" lvl="0" indent="0" algn="l" rtl="0">
              <a:lnSpc>
                <a:spcPct val="100000"/>
              </a:lnSpc>
              <a:spcBef>
                <a:spcPts val="0"/>
              </a:spcBef>
              <a:spcAft>
                <a:spcPts val="0"/>
              </a:spcAft>
              <a:buClr>
                <a:srgbClr val="04A2B9"/>
              </a:buClr>
              <a:buSzPts val="2400"/>
              <a:buFont typeface="Proxima Nova" panose="02000506030000020004"/>
              <a:buNone/>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Introduction</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3" name="TextBox 2">
            <a:extLst>
              <a:ext uri="{FF2B5EF4-FFF2-40B4-BE49-F238E27FC236}">
                <a16:creationId xmlns:a16="http://schemas.microsoft.com/office/drawing/2014/main" id="{926A84E0-BD9B-9291-C9A2-DD01985BBC1D}"/>
              </a:ext>
            </a:extLst>
          </p:cNvPr>
          <p:cNvSpPr txBox="1"/>
          <p:nvPr/>
        </p:nvSpPr>
        <p:spPr>
          <a:xfrm>
            <a:off x="534259" y="1289819"/>
            <a:ext cx="11373881" cy="3728649"/>
          </a:xfrm>
          <a:prstGeom prst="rect">
            <a:avLst/>
          </a:prstGeom>
          <a:noFill/>
        </p:spPr>
        <p:txBody>
          <a:bodyPr wrap="square" rtlCol="0">
            <a:spAutoFit/>
          </a:bodyPr>
          <a:lstStyle/>
          <a:p>
            <a:pPr algn="just">
              <a:lnSpc>
                <a:spcPct val="150000"/>
              </a:lnSpc>
            </a:pPr>
            <a:r>
              <a:rPr lang="en-IN" sz="2000" dirty="0"/>
              <a:t>The rapid deployment of connected and autonomous vehicles has intensified the reliance on VANETs for safety-critical communication such as collision avoidance, cooperative sensing, and traffic optimization. Due to their open wireless communication medium, high-speed topology changes, and lack of centralized control, VANETs remain highly vulnerable to cyberattacks that compromise vehicle safety and transportation integrity. Federated Learning (FL) offers a promising alternative by enabling privacy-preserving collaborative model training across distributed vehicular nodes. In this context, this research presents an optimized FL-driven intrusion detection and prevention framework.</a:t>
            </a:r>
          </a:p>
        </p:txBody>
      </p:sp>
    </p:spTree>
    <p:extLst>
      <p:ext uri="{BB962C8B-B14F-4D97-AF65-F5344CB8AC3E}">
        <p14:creationId xmlns:p14="http://schemas.microsoft.com/office/powerpoint/2010/main" val="309834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323435D8-338D-531F-1AE6-859CDEDCC356}"/>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F9F83AA6-A1F8-F9E0-FC42-AFDB11002D1F}"/>
              </a:ext>
            </a:extLst>
          </p:cNvPr>
          <p:cNvSpPr txBox="1">
            <a:spLocks noGrp="1"/>
          </p:cNvSpPr>
          <p:nvPr>
            <p:ph type="title"/>
          </p:nvPr>
        </p:nvSpPr>
        <p:spPr>
          <a:xfrm>
            <a:off x="534259" y="278784"/>
            <a:ext cx="3695714"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Research Gap</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2" name="TextBox 1">
            <a:extLst>
              <a:ext uri="{FF2B5EF4-FFF2-40B4-BE49-F238E27FC236}">
                <a16:creationId xmlns:a16="http://schemas.microsoft.com/office/drawing/2014/main" id="{B4077034-0663-9B10-C988-6E1D690B7ED0}"/>
              </a:ext>
            </a:extLst>
          </p:cNvPr>
          <p:cNvSpPr txBox="1"/>
          <p:nvPr/>
        </p:nvSpPr>
        <p:spPr>
          <a:xfrm>
            <a:off x="451530" y="1001712"/>
            <a:ext cx="11073735" cy="4651979"/>
          </a:xfrm>
          <a:prstGeom prst="rect">
            <a:avLst/>
          </a:prstGeom>
          <a:noFill/>
        </p:spPr>
        <p:txBody>
          <a:bodyPr wrap="square" rtlCol="0">
            <a:spAutoFit/>
          </a:bodyPr>
          <a:lstStyle/>
          <a:p>
            <a:pPr algn="just">
              <a:lnSpc>
                <a:spcPct val="150000"/>
              </a:lnSpc>
            </a:pPr>
            <a:r>
              <a:rPr lang="en-IN" sz="2000" dirty="0"/>
              <a:t>Although significant progress has been made in ML-based and DL-based IDS for vehicular networks most existing solutions rely on centralized training, which is incompatible with VANET privacy constraints, high mobility, and heterogeneous data distributions. Federated Learning–based IDS approaches have emerged, yet they remain limited in handling VANET-specific challenges such as non-IID data caused by varying road conditions, inconsistent driver </a:t>
            </a:r>
            <a:r>
              <a:rPr lang="en-IN" sz="2000" dirty="0" err="1"/>
              <a:t>behavior</a:t>
            </a:r>
            <a:r>
              <a:rPr lang="en-IN" sz="2000" dirty="0"/>
              <a:t>, and intermittent connectivity. Furthermore, current FL vehicular IDS solutions do not fully address real-time computation constraints. Therefore, there is a critical need for a </a:t>
            </a:r>
            <a:r>
              <a:rPr lang="en-IN" sz="2000" b="1" dirty="0"/>
              <a:t>scalable, privacy-preserving, real-time FL-based IDS</a:t>
            </a:r>
            <a:r>
              <a:rPr lang="en-IN" sz="2000" dirty="0"/>
              <a:t> that integrates cross-layer VANET features, supports continuous online learning, maintains adversarial robustness, and achieves high detection accuracy under mobility-driven non-IID data distributions.</a:t>
            </a:r>
          </a:p>
        </p:txBody>
      </p:sp>
    </p:spTree>
    <p:extLst>
      <p:ext uri="{BB962C8B-B14F-4D97-AF65-F5344CB8AC3E}">
        <p14:creationId xmlns:p14="http://schemas.microsoft.com/office/powerpoint/2010/main" val="388186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739F798C-84F9-67F5-49CE-A8435D998DFF}"/>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9EF5D944-2D3A-36D0-54A5-932F6070490D}"/>
              </a:ext>
            </a:extLst>
          </p:cNvPr>
          <p:cNvSpPr txBox="1">
            <a:spLocks noGrp="1"/>
          </p:cNvSpPr>
          <p:nvPr>
            <p:ph type="title"/>
          </p:nvPr>
        </p:nvSpPr>
        <p:spPr>
          <a:xfrm>
            <a:off x="534258" y="278784"/>
            <a:ext cx="3940019"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Work Flow</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pic>
        <p:nvPicPr>
          <p:cNvPr id="4" name="Picture 3">
            <a:extLst>
              <a:ext uri="{FF2B5EF4-FFF2-40B4-BE49-F238E27FC236}">
                <a16:creationId xmlns:a16="http://schemas.microsoft.com/office/drawing/2014/main" id="{3C98A6AA-9D86-22AE-1585-9DAEF7980E47}"/>
              </a:ext>
            </a:extLst>
          </p:cNvPr>
          <p:cNvPicPr>
            <a:picLocks noChangeAspect="1"/>
          </p:cNvPicPr>
          <p:nvPr/>
        </p:nvPicPr>
        <p:blipFill>
          <a:blip r:embed="rId4"/>
          <a:stretch>
            <a:fillRect/>
          </a:stretch>
        </p:blipFill>
        <p:spPr>
          <a:xfrm>
            <a:off x="534258" y="1130004"/>
            <a:ext cx="10664684" cy="5321907"/>
          </a:xfrm>
          <a:prstGeom prst="rect">
            <a:avLst/>
          </a:prstGeom>
        </p:spPr>
      </p:pic>
    </p:spTree>
    <p:extLst>
      <p:ext uri="{BB962C8B-B14F-4D97-AF65-F5344CB8AC3E}">
        <p14:creationId xmlns:p14="http://schemas.microsoft.com/office/powerpoint/2010/main" val="829093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AE2BABD3-8DEA-6CC0-3CA0-EA0F4357BA2D}"/>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D301A48C-7A7E-3159-F1EF-9C45885C1F78}"/>
              </a:ext>
            </a:extLst>
          </p:cNvPr>
          <p:cNvSpPr txBox="1">
            <a:spLocks noGrp="1"/>
          </p:cNvSpPr>
          <p:nvPr>
            <p:ph type="title"/>
          </p:nvPr>
        </p:nvSpPr>
        <p:spPr>
          <a:xfrm>
            <a:off x="534258" y="278784"/>
            <a:ext cx="3940019"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Methodologies</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2" name="TextBox 1">
            <a:extLst>
              <a:ext uri="{FF2B5EF4-FFF2-40B4-BE49-F238E27FC236}">
                <a16:creationId xmlns:a16="http://schemas.microsoft.com/office/drawing/2014/main" id="{F1F6F6CA-FEFE-24E9-4791-66566BE36E79}"/>
              </a:ext>
            </a:extLst>
          </p:cNvPr>
          <p:cNvSpPr txBox="1"/>
          <p:nvPr/>
        </p:nvSpPr>
        <p:spPr>
          <a:xfrm>
            <a:off x="534258" y="821026"/>
            <a:ext cx="11073735" cy="603697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IN" sz="2000" dirty="0"/>
              <a:t>Collect VANET-related intrusion detection dataset</a:t>
            </a:r>
          </a:p>
          <a:p>
            <a:pPr marL="342900" indent="-342900">
              <a:lnSpc>
                <a:spcPct val="150000"/>
              </a:lnSpc>
              <a:buFont typeface="Arial" panose="020B0604020202020204" pitchFamily="34" charset="0"/>
              <a:buChar char="•"/>
            </a:pPr>
            <a:r>
              <a:rPr lang="en-IN" sz="2000" dirty="0"/>
              <a:t>Perform data preprocessing (missing value handling, encoding, normalization)</a:t>
            </a:r>
          </a:p>
          <a:p>
            <a:pPr marL="342900" indent="-342900">
              <a:lnSpc>
                <a:spcPct val="150000"/>
              </a:lnSpc>
              <a:buFont typeface="Arial" panose="020B0604020202020204" pitchFamily="34" charset="0"/>
              <a:buChar char="•"/>
            </a:pPr>
            <a:r>
              <a:rPr lang="en-IN" sz="2000" dirty="0"/>
              <a:t>Apply Mutual Information for feature selection</a:t>
            </a:r>
          </a:p>
          <a:p>
            <a:pPr marL="342900" indent="-342900">
              <a:lnSpc>
                <a:spcPct val="150000"/>
              </a:lnSpc>
              <a:buFont typeface="Arial" panose="020B0604020202020204" pitchFamily="34" charset="0"/>
              <a:buChar char="•"/>
            </a:pPr>
            <a:r>
              <a:rPr lang="en-IN" sz="2000" dirty="0"/>
              <a:t>Implement centralized learning as a baseline model</a:t>
            </a:r>
          </a:p>
          <a:p>
            <a:pPr marL="342900" indent="-342900">
              <a:lnSpc>
                <a:spcPct val="150000"/>
              </a:lnSpc>
              <a:buFont typeface="Arial" panose="020B0604020202020204" pitchFamily="34" charset="0"/>
              <a:buChar char="•"/>
            </a:pPr>
            <a:r>
              <a:rPr lang="en-IN" sz="2000" dirty="0"/>
              <a:t>Split dataset into multiple clients for federated learning</a:t>
            </a:r>
          </a:p>
          <a:p>
            <a:pPr marL="342900" indent="-342900">
              <a:lnSpc>
                <a:spcPct val="150000"/>
              </a:lnSpc>
              <a:buFont typeface="Arial" panose="020B0604020202020204" pitchFamily="34" charset="0"/>
              <a:buChar char="•"/>
            </a:pPr>
            <a:r>
              <a:rPr lang="en-IN" sz="2000" dirty="0"/>
              <a:t>Distribute data in IID and Non-IID formats to simulate realistic VANET scenarios</a:t>
            </a:r>
          </a:p>
          <a:p>
            <a:pPr marL="342900" indent="-342900">
              <a:lnSpc>
                <a:spcPct val="150000"/>
              </a:lnSpc>
              <a:buFont typeface="Arial" panose="020B0604020202020204" pitchFamily="34" charset="0"/>
              <a:buChar char="•"/>
            </a:pPr>
            <a:r>
              <a:rPr lang="en-IN" sz="2000" dirty="0"/>
              <a:t>Train local models on each client without sharing raw data</a:t>
            </a:r>
          </a:p>
          <a:p>
            <a:pPr marL="342900" indent="-342900">
              <a:lnSpc>
                <a:spcPct val="150000"/>
              </a:lnSpc>
              <a:buFont typeface="Arial" panose="020B0604020202020204" pitchFamily="34" charset="0"/>
              <a:buChar char="•"/>
            </a:pPr>
            <a:r>
              <a:rPr lang="en-IN" sz="2000" dirty="0"/>
              <a:t>Aggregate client updates using </a:t>
            </a:r>
            <a:r>
              <a:rPr lang="en-IN" sz="2000" dirty="0" err="1"/>
              <a:t>FedAvg</a:t>
            </a:r>
            <a:r>
              <a:rPr lang="en-IN" sz="2000" dirty="0"/>
              <a:t> and </a:t>
            </a:r>
            <a:r>
              <a:rPr lang="en-IN" sz="2000" dirty="0" err="1"/>
              <a:t>FedProx</a:t>
            </a:r>
            <a:r>
              <a:rPr lang="en-IN" sz="2000" dirty="0"/>
              <a:t> algorithms</a:t>
            </a:r>
          </a:p>
          <a:p>
            <a:pPr marL="342900" indent="-342900">
              <a:lnSpc>
                <a:spcPct val="150000"/>
              </a:lnSpc>
              <a:buFont typeface="Arial" panose="020B0604020202020204" pitchFamily="34" charset="0"/>
              <a:buChar char="•"/>
            </a:pPr>
            <a:r>
              <a:rPr lang="en-IN" sz="2000" dirty="0"/>
              <a:t>Iterate training over multiple communication rounds</a:t>
            </a:r>
          </a:p>
          <a:p>
            <a:pPr marL="342900" indent="-342900">
              <a:lnSpc>
                <a:spcPct val="150000"/>
              </a:lnSpc>
              <a:buFont typeface="Arial" panose="020B0604020202020204" pitchFamily="34" charset="0"/>
              <a:buChar char="•"/>
            </a:pPr>
            <a:r>
              <a:rPr lang="en-IN" sz="2000" dirty="0"/>
              <a:t>Apply early stopping to reduce overfitting and communication cost</a:t>
            </a:r>
          </a:p>
          <a:p>
            <a:pPr marL="342900" indent="-342900">
              <a:lnSpc>
                <a:spcPct val="150000"/>
              </a:lnSpc>
              <a:buFont typeface="Arial" panose="020B0604020202020204" pitchFamily="34" charset="0"/>
              <a:buChar char="•"/>
            </a:pPr>
            <a:r>
              <a:rPr lang="en-IN" sz="2000" dirty="0"/>
              <a:t>Evaluate models using accuracy, precision, recall, F1-score, and false positive rate</a:t>
            </a:r>
          </a:p>
          <a:p>
            <a:pPr marL="342900" indent="-342900">
              <a:lnSpc>
                <a:spcPct val="150000"/>
              </a:lnSpc>
              <a:buFont typeface="Arial" panose="020B0604020202020204" pitchFamily="34" charset="0"/>
              <a:buChar char="•"/>
            </a:pPr>
            <a:r>
              <a:rPr lang="en-IN" sz="2000" dirty="0"/>
              <a:t>Compare centralized, IID federated, and Non-IID federated performance</a:t>
            </a:r>
          </a:p>
          <a:p>
            <a:pPr marL="342900" indent="-342900">
              <a:lnSpc>
                <a:spcPct val="150000"/>
              </a:lnSpc>
              <a:buFont typeface="Arial" panose="020B0604020202020204" pitchFamily="34" charset="0"/>
              <a:buChar char="•"/>
            </a:pPr>
            <a:r>
              <a:rPr lang="en-IN" sz="2000" dirty="0"/>
              <a:t>Implement intrusion prevention logic (ALLOW / BLOCK actions)</a:t>
            </a:r>
          </a:p>
        </p:txBody>
      </p:sp>
    </p:spTree>
    <p:extLst>
      <p:ext uri="{BB962C8B-B14F-4D97-AF65-F5344CB8AC3E}">
        <p14:creationId xmlns:p14="http://schemas.microsoft.com/office/powerpoint/2010/main" val="1942076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F1B9C3D3-C5C4-A37B-871B-827F16F685A2}"/>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0A74ED9B-4852-0D84-0B36-68E851AAA893}"/>
              </a:ext>
            </a:extLst>
          </p:cNvPr>
          <p:cNvSpPr txBox="1">
            <a:spLocks noGrp="1"/>
          </p:cNvSpPr>
          <p:nvPr>
            <p:ph type="title"/>
          </p:nvPr>
        </p:nvSpPr>
        <p:spPr>
          <a:xfrm>
            <a:off x="534258" y="278784"/>
            <a:ext cx="3940019"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29B0C3"/>
                </a:solidFill>
                <a:latin typeface="Proxima Nova Rg" panose="02000506030000020004" pitchFamily="2" charset="0"/>
                <a:ea typeface="Proxima Nova" panose="02000506030000020004"/>
                <a:cs typeface="Proxima Nova" panose="02000506030000020004"/>
                <a:sym typeface="Proxima Nova" panose="02000506030000020004"/>
              </a:rPr>
              <a:t>Non IID vs IID</a:t>
            </a:r>
            <a:endParaRPr sz="2800" b="1" dirty="0">
              <a:solidFill>
                <a:srgbClr val="29B0C3"/>
              </a:solidFill>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7" name="TextBox 6">
            <a:extLst>
              <a:ext uri="{FF2B5EF4-FFF2-40B4-BE49-F238E27FC236}">
                <a16:creationId xmlns:a16="http://schemas.microsoft.com/office/drawing/2014/main" id="{A35179B8-500C-00C5-4B88-36542E5B688E}"/>
              </a:ext>
            </a:extLst>
          </p:cNvPr>
          <p:cNvSpPr txBox="1"/>
          <p:nvPr/>
        </p:nvSpPr>
        <p:spPr>
          <a:xfrm>
            <a:off x="1543816" y="5792067"/>
            <a:ext cx="3234813" cy="338554"/>
          </a:xfrm>
          <a:prstGeom prst="rect">
            <a:avLst/>
          </a:prstGeom>
          <a:noFill/>
        </p:spPr>
        <p:txBody>
          <a:bodyPr wrap="square" rtlCol="0">
            <a:spAutoFit/>
          </a:bodyPr>
          <a:lstStyle/>
          <a:p>
            <a:r>
              <a:rPr lang="en-US" sz="1600" dirty="0"/>
              <a:t>a.) Confusion Matrix for Non IID</a:t>
            </a:r>
            <a:endParaRPr lang="en-IN" sz="1600" dirty="0"/>
          </a:p>
        </p:txBody>
      </p:sp>
      <p:sp>
        <p:nvSpPr>
          <p:cNvPr id="8" name="TextBox 7">
            <a:extLst>
              <a:ext uri="{FF2B5EF4-FFF2-40B4-BE49-F238E27FC236}">
                <a16:creationId xmlns:a16="http://schemas.microsoft.com/office/drawing/2014/main" id="{8E4EDD60-6384-00ED-63FF-EA0B4FE341B8}"/>
              </a:ext>
            </a:extLst>
          </p:cNvPr>
          <p:cNvSpPr txBox="1"/>
          <p:nvPr/>
        </p:nvSpPr>
        <p:spPr>
          <a:xfrm>
            <a:off x="7578992" y="5838233"/>
            <a:ext cx="2738137" cy="584775"/>
          </a:xfrm>
          <a:prstGeom prst="rect">
            <a:avLst/>
          </a:prstGeom>
          <a:noFill/>
        </p:spPr>
        <p:txBody>
          <a:bodyPr wrap="square" rtlCol="0">
            <a:spAutoFit/>
          </a:bodyPr>
          <a:lstStyle/>
          <a:p>
            <a:r>
              <a:rPr lang="en-US" sz="1600" dirty="0"/>
              <a:t>b.) Confusion Matrix for IID</a:t>
            </a:r>
            <a:endParaRPr lang="en-IN" sz="1600" dirty="0"/>
          </a:p>
          <a:p>
            <a:endParaRPr lang="en-IN" sz="1600" dirty="0"/>
          </a:p>
        </p:txBody>
      </p:sp>
      <p:pic>
        <p:nvPicPr>
          <p:cNvPr id="3" name="Picture 2">
            <a:extLst>
              <a:ext uri="{FF2B5EF4-FFF2-40B4-BE49-F238E27FC236}">
                <a16:creationId xmlns:a16="http://schemas.microsoft.com/office/drawing/2014/main" id="{37C50B41-BE39-3322-D03D-B310B5A302A6}"/>
              </a:ext>
            </a:extLst>
          </p:cNvPr>
          <p:cNvPicPr>
            <a:picLocks noChangeAspect="1"/>
          </p:cNvPicPr>
          <p:nvPr/>
        </p:nvPicPr>
        <p:blipFill>
          <a:blip r:embed="rId4"/>
          <a:stretch>
            <a:fillRect/>
          </a:stretch>
        </p:blipFill>
        <p:spPr>
          <a:xfrm>
            <a:off x="804422" y="2700963"/>
            <a:ext cx="4713602" cy="2910127"/>
          </a:xfrm>
          <a:prstGeom prst="rect">
            <a:avLst/>
          </a:prstGeom>
        </p:spPr>
      </p:pic>
      <p:pic>
        <p:nvPicPr>
          <p:cNvPr id="9" name="Picture 8">
            <a:extLst>
              <a:ext uri="{FF2B5EF4-FFF2-40B4-BE49-F238E27FC236}">
                <a16:creationId xmlns:a16="http://schemas.microsoft.com/office/drawing/2014/main" id="{588BBC2D-CEC4-4166-A81D-0A5D66FF206A}"/>
              </a:ext>
            </a:extLst>
          </p:cNvPr>
          <p:cNvPicPr>
            <a:picLocks noChangeAspect="1"/>
          </p:cNvPicPr>
          <p:nvPr/>
        </p:nvPicPr>
        <p:blipFill>
          <a:blip r:embed="rId5"/>
          <a:stretch>
            <a:fillRect/>
          </a:stretch>
        </p:blipFill>
        <p:spPr>
          <a:xfrm>
            <a:off x="6673978" y="1569026"/>
            <a:ext cx="4548166" cy="4042064"/>
          </a:xfrm>
          <a:prstGeom prst="rect">
            <a:avLst/>
          </a:prstGeom>
        </p:spPr>
      </p:pic>
    </p:spTree>
    <p:extLst>
      <p:ext uri="{BB962C8B-B14F-4D97-AF65-F5344CB8AC3E}">
        <p14:creationId xmlns:p14="http://schemas.microsoft.com/office/powerpoint/2010/main" val="3668339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76751CA9-EDA7-92A4-6ED5-09AAC0748221}"/>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73DEE821-C635-73C5-64C1-10C22426BA09}"/>
              </a:ext>
            </a:extLst>
          </p:cNvPr>
          <p:cNvSpPr txBox="1">
            <a:spLocks noGrp="1"/>
          </p:cNvSpPr>
          <p:nvPr>
            <p:ph type="title"/>
          </p:nvPr>
        </p:nvSpPr>
        <p:spPr>
          <a:xfrm>
            <a:off x="534258" y="278784"/>
            <a:ext cx="3940019"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29B0C3"/>
                </a:solidFill>
                <a:latin typeface="Proxima Nova Rg" panose="02000506030000020004" pitchFamily="2" charset="0"/>
                <a:ea typeface="Proxima Nova" panose="02000506030000020004"/>
                <a:cs typeface="Proxima Nova" panose="02000506030000020004"/>
                <a:sym typeface="Proxima Nova" panose="02000506030000020004"/>
              </a:rPr>
              <a:t>Non IID vs IID</a:t>
            </a:r>
            <a:endParaRPr sz="2800" b="1" dirty="0">
              <a:solidFill>
                <a:srgbClr val="29B0C3"/>
              </a:solidFill>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7" name="TextBox 6">
            <a:extLst>
              <a:ext uri="{FF2B5EF4-FFF2-40B4-BE49-F238E27FC236}">
                <a16:creationId xmlns:a16="http://schemas.microsoft.com/office/drawing/2014/main" id="{C88E258C-E2EF-0089-45D3-74AF15E2FBEC}"/>
              </a:ext>
            </a:extLst>
          </p:cNvPr>
          <p:cNvSpPr txBox="1"/>
          <p:nvPr/>
        </p:nvSpPr>
        <p:spPr>
          <a:xfrm>
            <a:off x="1543816" y="5792067"/>
            <a:ext cx="3234813" cy="338554"/>
          </a:xfrm>
          <a:prstGeom prst="rect">
            <a:avLst/>
          </a:prstGeom>
          <a:noFill/>
        </p:spPr>
        <p:txBody>
          <a:bodyPr wrap="square" rtlCol="0">
            <a:spAutoFit/>
          </a:bodyPr>
          <a:lstStyle/>
          <a:p>
            <a:r>
              <a:rPr lang="en-US" sz="1600" dirty="0"/>
              <a:t>a.) ROC Curve for Non IID</a:t>
            </a:r>
            <a:endParaRPr lang="en-IN" sz="1600" dirty="0"/>
          </a:p>
        </p:txBody>
      </p:sp>
      <p:sp>
        <p:nvSpPr>
          <p:cNvPr id="8" name="TextBox 7">
            <a:extLst>
              <a:ext uri="{FF2B5EF4-FFF2-40B4-BE49-F238E27FC236}">
                <a16:creationId xmlns:a16="http://schemas.microsoft.com/office/drawing/2014/main" id="{58AF723F-72B6-A6E3-7FDB-08DD6198A1A6}"/>
              </a:ext>
            </a:extLst>
          </p:cNvPr>
          <p:cNvSpPr txBox="1"/>
          <p:nvPr/>
        </p:nvSpPr>
        <p:spPr>
          <a:xfrm>
            <a:off x="7995108" y="5792067"/>
            <a:ext cx="2149695" cy="584775"/>
          </a:xfrm>
          <a:prstGeom prst="rect">
            <a:avLst/>
          </a:prstGeom>
          <a:noFill/>
        </p:spPr>
        <p:txBody>
          <a:bodyPr wrap="square" rtlCol="0">
            <a:spAutoFit/>
          </a:bodyPr>
          <a:lstStyle/>
          <a:p>
            <a:r>
              <a:rPr lang="en-US" sz="1600" dirty="0"/>
              <a:t>b.) ROC Curve for IID</a:t>
            </a:r>
            <a:endParaRPr lang="en-IN" sz="1600" dirty="0"/>
          </a:p>
          <a:p>
            <a:endParaRPr lang="en-IN" sz="1600" dirty="0"/>
          </a:p>
        </p:txBody>
      </p:sp>
      <p:pic>
        <p:nvPicPr>
          <p:cNvPr id="4" name="Picture 3">
            <a:extLst>
              <a:ext uri="{FF2B5EF4-FFF2-40B4-BE49-F238E27FC236}">
                <a16:creationId xmlns:a16="http://schemas.microsoft.com/office/drawing/2014/main" id="{E1E5D4B7-1D32-905F-DC2E-5DF19AA0BDAE}"/>
              </a:ext>
            </a:extLst>
          </p:cNvPr>
          <p:cNvPicPr>
            <a:picLocks noChangeAspect="1"/>
          </p:cNvPicPr>
          <p:nvPr/>
        </p:nvPicPr>
        <p:blipFill>
          <a:blip r:embed="rId4"/>
          <a:stretch>
            <a:fillRect/>
          </a:stretch>
        </p:blipFill>
        <p:spPr>
          <a:xfrm>
            <a:off x="707582" y="1243431"/>
            <a:ext cx="4907279" cy="4371137"/>
          </a:xfrm>
          <a:prstGeom prst="rect">
            <a:avLst/>
          </a:prstGeom>
        </p:spPr>
      </p:pic>
      <p:pic>
        <p:nvPicPr>
          <p:cNvPr id="6" name="Picture 5">
            <a:extLst>
              <a:ext uri="{FF2B5EF4-FFF2-40B4-BE49-F238E27FC236}">
                <a16:creationId xmlns:a16="http://schemas.microsoft.com/office/drawing/2014/main" id="{965A0349-F0DE-1D7D-D06A-192127A4ADED}"/>
              </a:ext>
            </a:extLst>
          </p:cNvPr>
          <p:cNvPicPr>
            <a:picLocks noChangeAspect="1"/>
          </p:cNvPicPr>
          <p:nvPr/>
        </p:nvPicPr>
        <p:blipFill>
          <a:blip r:embed="rId5"/>
          <a:stretch>
            <a:fillRect/>
          </a:stretch>
        </p:blipFill>
        <p:spPr>
          <a:xfrm>
            <a:off x="6577141" y="1241247"/>
            <a:ext cx="4985630" cy="4371137"/>
          </a:xfrm>
          <a:prstGeom prst="rect">
            <a:avLst/>
          </a:prstGeom>
        </p:spPr>
      </p:pic>
    </p:spTree>
    <p:extLst>
      <p:ext uri="{BB962C8B-B14F-4D97-AF65-F5344CB8AC3E}">
        <p14:creationId xmlns:p14="http://schemas.microsoft.com/office/powerpoint/2010/main" val="14584021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40C7A915-D029-E75F-0CDB-F9FC64768EE1}"/>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68971B2D-54C4-B9E0-3351-B6FB7F3A0806}"/>
              </a:ext>
            </a:extLst>
          </p:cNvPr>
          <p:cNvSpPr txBox="1">
            <a:spLocks noGrp="1"/>
          </p:cNvSpPr>
          <p:nvPr>
            <p:ph type="title"/>
          </p:nvPr>
        </p:nvSpPr>
        <p:spPr>
          <a:xfrm>
            <a:off x="534258" y="278784"/>
            <a:ext cx="3940019"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29B0C3"/>
                </a:solidFill>
                <a:latin typeface="Proxima Nova Rg" panose="02000506030000020004" pitchFamily="2" charset="0"/>
                <a:ea typeface="Proxima Nova" panose="02000506030000020004"/>
                <a:cs typeface="Proxima Nova" panose="02000506030000020004"/>
                <a:sym typeface="Proxima Nova" panose="02000506030000020004"/>
              </a:rPr>
              <a:t>Non IID vs IID</a:t>
            </a:r>
            <a:endParaRPr sz="2800" b="1" dirty="0">
              <a:solidFill>
                <a:srgbClr val="29B0C3"/>
              </a:solidFill>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7" name="TextBox 6">
            <a:extLst>
              <a:ext uri="{FF2B5EF4-FFF2-40B4-BE49-F238E27FC236}">
                <a16:creationId xmlns:a16="http://schemas.microsoft.com/office/drawing/2014/main" id="{A98B1738-3F57-70EC-FBE9-3B50F4E16235}"/>
              </a:ext>
            </a:extLst>
          </p:cNvPr>
          <p:cNvSpPr txBox="1"/>
          <p:nvPr/>
        </p:nvSpPr>
        <p:spPr>
          <a:xfrm>
            <a:off x="1636181" y="5161125"/>
            <a:ext cx="3234813" cy="338554"/>
          </a:xfrm>
          <a:prstGeom prst="rect">
            <a:avLst/>
          </a:prstGeom>
          <a:noFill/>
        </p:spPr>
        <p:txBody>
          <a:bodyPr wrap="square" rtlCol="0">
            <a:spAutoFit/>
          </a:bodyPr>
          <a:lstStyle/>
          <a:p>
            <a:r>
              <a:rPr lang="en-US" sz="1600" dirty="0"/>
              <a:t>a.) Metrices for Non IID</a:t>
            </a:r>
            <a:endParaRPr lang="en-IN" sz="1600" dirty="0"/>
          </a:p>
        </p:txBody>
      </p:sp>
      <p:sp>
        <p:nvSpPr>
          <p:cNvPr id="8" name="TextBox 7">
            <a:extLst>
              <a:ext uri="{FF2B5EF4-FFF2-40B4-BE49-F238E27FC236}">
                <a16:creationId xmlns:a16="http://schemas.microsoft.com/office/drawing/2014/main" id="{46109D9B-D4DB-4939-D3A8-56D5B39E7D6C}"/>
              </a:ext>
            </a:extLst>
          </p:cNvPr>
          <p:cNvSpPr txBox="1"/>
          <p:nvPr/>
        </p:nvSpPr>
        <p:spPr>
          <a:xfrm>
            <a:off x="8041228" y="5207291"/>
            <a:ext cx="2149695" cy="584775"/>
          </a:xfrm>
          <a:prstGeom prst="rect">
            <a:avLst/>
          </a:prstGeom>
          <a:noFill/>
        </p:spPr>
        <p:txBody>
          <a:bodyPr wrap="square" rtlCol="0">
            <a:spAutoFit/>
          </a:bodyPr>
          <a:lstStyle/>
          <a:p>
            <a:r>
              <a:rPr lang="en-US" sz="1600" dirty="0"/>
              <a:t>b.) Metrices for IID</a:t>
            </a:r>
            <a:endParaRPr lang="en-IN" sz="1600" dirty="0"/>
          </a:p>
          <a:p>
            <a:endParaRPr lang="en-IN" sz="1600" dirty="0"/>
          </a:p>
        </p:txBody>
      </p:sp>
      <p:pic>
        <p:nvPicPr>
          <p:cNvPr id="3" name="Picture 2">
            <a:extLst>
              <a:ext uri="{FF2B5EF4-FFF2-40B4-BE49-F238E27FC236}">
                <a16:creationId xmlns:a16="http://schemas.microsoft.com/office/drawing/2014/main" id="{B0F28140-24BA-56CF-9E5C-89B29289A19A}"/>
              </a:ext>
            </a:extLst>
          </p:cNvPr>
          <p:cNvPicPr>
            <a:picLocks noChangeAspect="1"/>
          </p:cNvPicPr>
          <p:nvPr/>
        </p:nvPicPr>
        <p:blipFill>
          <a:blip r:embed="rId4"/>
          <a:stretch>
            <a:fillRect/>
          </a:stretch>
        </p:blipFill>
        <p:spPr>
          <a:xfrm>
            <a:off x="411175" y="2605318"/>
            <a:ext cx="5684826" cy="2044133"/>
          </a:xfrm>
          <a:prstGeom prst="rect">
            <a:avLst/>
          </a:prstGeom>
        </p:spPr>
      </p:pic>
      <p:pic>
        <p:nvPicPr>
          <p:cNvPr id="9" name="Picture 8">
            <a:extLst>
              <a:ext uri="{FF2B5EF4-FFF2-40B4-BE49-F238E27FC236}">
                <a16:creationId xmlns:a16="http://schemas.microsoft.com/office/drawing/2014/main" id="{05B9A20D-37ED-B674-BF92-56933BB743C9}"/>
              </a:ext>
            </a:extLst>
          </p:cNvPr>
          <p:cNvPicPr>
            <a:picLocks noChangeAspect="1"/>
          </p:cNvPicPr>
          <p:nvPr/>
        </p:nvPicPr>
        <p:blipFill>
          <a:blip r:embed="rId5"/>
          <a:stretch>
            <a:fillRect/>
          </a:stretch>
        </p:blipFill>
        <p:spPr>
          <a:xfrm>
            <a:off x="6451328" y="2402112"/>
            <a:ext cx="5329497" cy="2401372"/>
          </a:xfrm>
          <a:prstGeom prst="rect">
            <a:avLst/>
          </a:prstGeom>
        </p:spPr>
      </p:pic>
    </p:spTree>
    <p:extLst>
      <p:ext uri="{BB962C8B-B14F-4D97-AF65-F5344CB8AC3E}">
        <p14:creationId xmlns:p14="http://schemas.microsoft.com/office/powerpoint/2010/main" val="365098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04">
          <a:extLst>
            <a:ext uri="{FF2B5EF4-FFF2-40B4-BE49-F238E27FC236}">
              <a16:creationId xmlns:a16="http://schemas.microsoft.com/office/drawing/2014/main" id="{D92DC44A-3E9F-679C-108F-545025EDC605}"/>
            </a:ext>
          </a:extLst>
        </p:cNvPr>
        <p:cNvGrpSpPr/>
        <p:nvPr/>
      </p:nvGrpSpPr>
      <p:grpSpPr>
        <a:xfrm>
          <a:off x="0" y="0"/>
          <a:ext cx="0" cy="0"/>
          <a:chOff x="0" y="0"/>
          <a:chExt cx="0" cy="0"/>
        </a:xfrm>
      </p:grpSpPr>
      <p:sp>
        <p:nvSpPr>
          <p:cNvPr id="105" name="Google Shape;105;p4">
            <a:extLst>
              <a:ext uri="{FF2B5EF4-FFF2-40B4-BE49-F238E27FC236}">
                <a16:creationId xmlns:a16="http://schemas.microsoft.com/office/drawing/2014/main" id="{B2CF02EF-8805-E0EB-0CFC-E34AE3F2E8EC}"/>
              </a:ext>
            </a:extLst>
          </p:cNvPr>
          <p:cNvSpPr txBox="1">
            <a:spLocks noGrp="1"/>
          </p:cNvSpPr>
          <p:nvPr>
            <p:ph type="title"/>
          </p:nvPr>
        </p:nvSpPr>
        <p:spPr>
          <a:xfrm>
            <a:off x="534258" y="278784"/>
            <a:ext cx="3940019" cy="443711"/>
          </a:xfrm>
          <a:prstGeom prst="rect">
            <a:avLst/>
          </a:prstGeom>
          <a:noFill/>
          <a:ln>
            <a:noFill/>
          </a:ln>
        </p:spPr>
        <p:txBody>
          <a:bodyPr spcFirstLastPara="1" wrap="square" lIns="0" tIns="12700" rIns="0" bIns="0" anchor="ctr" anchorCtr="0">
            <a:spAutoFit/>
          </a:bodyPr>
          <a:lstStyle/>
          <a:p>
            <a:pPr marL="12700" lvl="0">
              <a:lnSpc>
                <a:spcPct val="100000"/>
              </a:lnSpc>
              <a:buClr>
                <a:srgbClr val="04A2B9"/>
              </a:buClr>
              <a:buSzPts val="2400"/>
            </a:pPr>
            <a:r>
              <a:rPr lang="en-US" sz="2800" b="1" dirty="0">
                <a:solidFill>
                  <a:srgbClr val="04A2B9"/>
                </a:solidFill>
                <a:latin typeface="Proxima Nova Rg" panose="02000506030000020004" pitchFamily="2" charset="0"/>
                <a:ea typeface="Proxima Nova" panose="02000506030000020004"/>
                <a:cs typeface="Proxima Nova" panose="02000506030000020004"/>
                <a:sym typeface="Proxima Nova" panose="02000506030000020004"/>
              </a:rPr>
              <a:t>Tools and Technologies</a:t>
            </a:r>
            <a:endParaRPr sz="2800" b="1" dirty="0">
              <a:latin typeface="Proxima Nova Rg" panose="02000506030000020004" pitchFamily="2" charset="0"/>
              <a:ea typeface="Proxima Nova" panose="02000506030000020004"/>
              <a:cs typeface="Proxima Nova" panose="02000506030000020004"/>
              <a:sym typeface="Proxima Nova" panose="02000506030000020004"/>
            </a:endParaRPr>
          </a:p>
        </p:txBody>
      </p:sp>
      <p:sp>
        <p:nvSpPr>
          <p:cNvPr id="3" name="Rectangle 1">
            <a:extLst>
              <a:ext uri="{FF2B5EF4-FFF2-40B4-BE49-F238E27FC236}">
                <a16:creationId xmlns:a16="http://schemas.microsoft.com/office/drawing/2014/main" id="{413606BF-BEA0-AE5B-CA2E-37707C8C8E5D}"/>
              </a:ext>
            </a:extLst>
          </p:cNvPr>
          <p:cNvSpPr>
            <a:spLocks noChangeArrowheads="1"/>
          </p:cNvSpPr>
          <p:nvPr/>
        </p:nvSpPr>
        <p:spPr bwMode="auto">
          <a:xfrm>
            <a:off x="534258" y="-6494414"/>
            <a:ext cx="11123483" cy="12403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lang="en-US" altLang="en-US" sz="2000" b="1" dirty="0">
              <a:solidFill>
                <a:schemeClr val="tx1"/>
              </a:solidFill>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Python</a:t>
            </a:r>
            <a:r>
              <a:rPr kumimoji="0" lang="en-US" altLang="en-US" sz="2000" b="0" i="0" u="none" strike="noStrike" cap="none" normalizeH="0" baseline="0" dirty="0">
                <a:ln>
                  <a:noFill/>
                </a:ln>
                <a:solidFill>
                  <a:schemeClr val="tx1"/>
                </a:solidFill>
                <a:effectLst/>
                <a:latin typeface="Arial" panose="020B0604020202020204" pitchFamily="34" charset="0"/>
              </a:rPr>
              <a:t> – Primary programming language for data processing, model development, and experimentation</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Google </a:t>
            </a:r>
            <a:r>
              <a:rPr kumimoji="0" lang="en-US" altLang="en-US" sz="2000" b="1" i="0" u="none" strike="noStrike" cap="none" normalizeH="0" baseline="0" dirty="0" err="1">
                <a:ln>
                  <a:noFill/>
                </a:ln>
                <a:solidFill>
                  <a:schemeClr val="tx1"/>
                </a:solidFill>
                <a:effectLst/>
                <a:latin typeface="Arial" panose="020B0604020202020204" pitchFamily="34" charset="0"/>
              </a:rPr>
              <a:t>Colaboratory</a:t>
            </a:r>
            <a:r>
              <a:rPr kumimoji="0" lang="en-US" altLang="en-US" sz="2000" b="0" i="0" u="none" strike="noStrike" cap="none" normalizeH="0" baseline="0" dirty="0">
                <a:ln>
                  <a:noFill/>
                </a:ln>
                <a:solidFill>
                  <a:schemeClr val="tx1"/>
                </a:solidFill>
                <a:effectLst/>
                <a:latin typeface="Arial" panose="020B0604020202020204" pitchFamily="34" charset="0"/>
              </a:rPr>
              <a:t> – Cloud-based execution environment with GPU support</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NumPy</a:t>
            </a:r>
            <a:r>
              <a:rPr kumimoji="0" lang="en-US" altLang="en-US" sz="2000" b="0" i="0" u="none" strike="noStrike" cap="none" normalizeH="0" baseline="0" dirty="0">
                <a:ln>
                  <a:noFill/>
                </a:ln>
                <a:solidFill>
                  <a:schemeClr val="tx1"/>
                </a:solidFill>
                <a:effectLst/>
                <a:latin typeface="Arial" panose="020B0604020202020204" pitchFamily="34" charset="0"/>
              </a:rPr>
              <a:t> – Numerical computations and array operations</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Pandas</a:t>
            </a:r>
            <a:r>
              <a:rPr kumimoji="0" lang="en-US" altLang="en-US" sz="2000" b="0" i="0" u="none" strike="noStrike" cap="none" normalizeH="0" baseline="0" dirty="0">
                <a:ln>
                  <a:noFill/>
                </a:ln>
                <a:solidFill>
                  <a:schemeClr val="tx1"/>
                </a:solidFill>
                <a:effectLst/>
                <a:latin typeface="Arial" panose="020B0604020202020204" pitchFamily="34" charset="0"/>
              </a:rPr>
              <a:t> – Dataset loading, preprocessing, and result analysis</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Scikit-learn</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Data normalization and encoding</a:t>
            </a:r>
          </a:p>
          <a:p>
            <a:pPr marL="0" marR="0" lvl="0" indent="0" algn="l"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Mutual Information–based feature selection</a:t>
            </a:r>
          </a:p>
          <a:p>
            <a:pPr marL="0" marR="0" lvl="0" indent="0" algn="l"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Dataset splitting (Centralized, IID, Non-IID)</a:t>
            </a:r>
          </a:p>
          <a:p>
            <a:pPr marL="0" marR="0" lvl="0" indent="0" algn="l"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Performance metric evaluation</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TensorFlow / </a:t>
            </a:r>
            <a:r>
              <a:rPr kumimoji="0" lang="en-US" altLang="en-US" sz="2000" b="1" i="0" u="none" strike="noStrike" cap="none" normalizeH="0" baseline="0" dirty="0" err="1">
                <a:ln>
                  <a:noFill/>
                </a:ln>
                <a:solidFill>
                  <a:schemeClr val="tx1"/>
                </a:solidFill>
                <a:effectLst/>
                <a:latin typeface="Arial" panose="020B0604020202020204" pitchFamily="34" charset="0"/>
              </a:rPr>
              <a:t>Keras</a:t>
            </a:r>
            <a:r>
              <a:rPr kumimoji="0" lang="en-US" altLang="en-US" sz="2000" b="1" i="0" u="none" strike="noStrike" cap="none" normalizeH="0" baseline="0" dirty="0">
                <a:ln>
                  <a:noFill/>
                </a:ln>
                <a:solidFill>
                  <a:schemeClr val="tx1"/>
                </a:solidFill>
                <a:effectLst/>
                <a:latin typeface="Arial" panose="020B0604020202020204" pitchFamily="34" charset="0"/>
              </a:rPr>
              <a:t> (or </a:t>
            </a:r>
            <a:r>
              <a:rPr kumimoji="0" lang="en-US" altLang="en-US" sz="2000" b="1" i="0" u="none" strike="noStrike" cap="none" normalizeH="0" baseline="0" dirty="0" err="1">
                <a:ln>
                  <a:noFill/>
                </a:ln>
                <a:solidFill>
                  <a:schemeClr val="tx1"/>
                </a:solidFill>
                <a:effectLst/>
                <a:latin typeface="Arial" panose="020B0604020202020204" pitchFamily="34" charset="0"/>
              </a:rPr>
              <a:t>PyTorch</a:t>
            </a:r>
            <a:r>
              <a:rPr kumimoji="0" lang="en-US" altLang="en-US" sz="2000" b="1" i="0" u="none" strike="noStrike" cap="none" normalizeH="0" baseline="0" dirty="0">
                <a:ln>
                  <a:noFill/>
                </a:ln>
                <a:solidFill>
                  <a:schemeClr val="tx1"/>
                </a:solidFill>
                <a:effectLst/>
                <a:latin typeface="Arial" panose="020B0604020202020204" pitchFamily="34" charset="0"/>
              </a:rPr>
              <a:t>)</a:t>
            </a:r>
            <a:r>
              <a:rPr kumimoji="0" lang="en-US" altLang="en-US" sz="2000" b="0" i="0" u="none" strike="noStrike" cap="none" normalizeH="0" baseline="0" dirty="0">
                <a:ln>
                  <a:noFill/>
                </a:ln>
                <a:solidFill>
                  <a:schemeClr val="tx1"/>
                </a:solidFill>
                <a:effectLst/>
                <a:latin typeface="Arial" panose="020B0604020202020204" pitchFamily="34" charset="0"/>
              </a:rPr>
              <a:t> – Machine learning and deep learning model implementation</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Flower (FLWR)</a:t>
            </a:r>
            <a:r>
              <a:rPr kumimoji="0" lang="en-US" altLang="en-US" sz="2000" b="0" i="0" u="none" strike="noStrike" cap="none" normalizeH="0" baseline="0" dirty="0">
                <a:ln>
                  <a:noFill/>
                </a:ln>
                <a:solidFill>
                  <a:schemeClr val="tx1"/>
                </a:solidFill>
                <a:effectLst/>
                <a:latin typeface="Arial" panose="020B0604020202020204" pitchFamily="34" charset="0"/>
              </a:rPr>
              <a:t> – Federated learning framework for simulating distributed vehicular clients</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err="1">
                <a:ln>
                  <a:noFill/>
                </a:ln>
                <a:solidFill>
                  <a:schemeClr val="tx1"/>
                </a:solidFill>
                <a:effectLst/>
                <a:latin typeface="Arial" panose="020B0604020202020204" pitchFamily="34" charset="0"/>
              </a:rPr>
              <a:t>FedAvg</a:t>
            </a:r>
            <a:r>
              <a:rPr kumimoji="0" lang="en-US" altLang="en-US" sz="2000" b="1" i="0" u="none" strike="noStrike" cap="none" normalizeH="0" baseline="0" dirty="0">
                <a:ln>
                  <a:noFill/>
                </a:ln>
                <a:solidFill>
                  <a:schemeClr val="tx1"/>
                </a:solidFill>
                <a:effectLst/>
                <a:latin typeface="Arial" panose="020B0604020202020204" pitchFamily="34" charset="0"/>
              </a:rPr>
              <a:t> &amp; </a:t>
            </a:r>
            <a:r>
              <a:rPr kumimoji="0" lang="en-US" altLang="en-US" sz="2000" b="1" i="0" u="none" strike="noStrike" cap="none" normalizeH="0" baseline="0" dirty="0" err="1">
                <a:ln>
                  <a:noFill/>
                </a:ln>
                <a:solidFill>
                  <a:schemeClr val="tx1"/>
                </a:solidFill>
                <a:effectLst/>
                <a:latin typeface="Arial" panose="020B0604020202020204" pitchFamily="34" charset="0"/>
              </a:rPr>
              <a:t>FedProx</a:t>
            </a:r>
            <a:r>
              <a:rPr kumimoji="0" lang="en-US" altLang="en-US" sz="2000" b="0" i="0" u="none" strike="noStrike" cap="none" normalizeH="0" baseline="0" dirty="0">
                <a:ln>
                  <a:noFill/>
                </a:ln>
                <a:solidFill>
                  <a:schemeClr val="tx1"/>
                </a:solidFill>
                <a:effectLst/>
                <a:latin typeface="Arial" panose="020B0604020202020204" pitchFamily="34" charset="0"/>
              </a:rPr>
              <a:t> – Federated optimization algorithms for model aggregation</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Matplotlib &amp; Seaborn</a:t>
            </a:r>
            <a:r>
              <a:rPr kumimoji="0" lang="en-US" altLang="en-US" sz="2000" b="0" i="0" u="none" strike="noStrike" cap="none" normalizeH="0" baseline="0" dirty="0">
                <a:ln>
                  <a:noFill/>
                </a:ln>
                <a:solidFill>
                  <a:schemeClr val="tx1"/>
                </a:solidFill>
                <a:effectLst/>
                <a:latin typeface="Arial" panose="020B0604020202020204" pitchFamily="34" charset="0"/>
              </a:rPr>
              <a:t> – Visualization of accuracy, loss, and convergence trends</a:t>
            </a:r>
          </a:p>
          <a:p>
            <a:pPr marL="0" marR="0" lvl="0" indent="0" algn="l" defTabSz="914400" rtl="0" eaLnBrk="0" fontAlgn="base" latinLnBrk="0" hangingPunct="0">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CSV &amp; Pandas </a:t>
            </a:r>
            <a:r>
              <a:rPr kumimoji="0" lang="en-US" altLang="en-US" sz="2000" b="1" i="0" u="none" strike="noStrike" cap="none" normalizeH="0" baseline="0" dirty="0" err="1">
                <a:ln>
                  <a:noFill/>
                </a:ln>
                <a:solidFill>
                  <a:schemeClr val="tx1"/>
                </a:solidFill>
                <a:effectLst/>
                <a:latin typeface="Arial" panose="020B0604020202020204" pitchFamily="34" charset="0"/>
              </a:rPr>
              <a:t>DataFrames</a:t>
            </a:r>
            <a:r>
              <a:rPr kumimoji="0" lang="en-US" altLang="en-US" sz="2000" b="0" i="0" u="none" strike="noStrike" cap="none" normalizeH="0" baseline="0" dirty="0">
                <a:ln>
                  <a:noFill/>
                </a:ln>
                <a:solidFill>
                  <a:schemeClr val="tx1"/>
                </a:solidFill>
                <a:effectLst/>
                <a:latin typeface="Arial" panose="020B0604020202020204" pitchFamily="34" charset="0"/>
              </a:rPr>
              <a:t> – Experimental logging and result storage</a:t>
            </a:r>
          </a:p>
        </p:txBody>
      </p:sp>
    </p:spTree>
    <p:extLst>
      <p:ext uri="{BB962C8B-B14F-4D97-AF65-F5344CB8AC3E}">
        <p14:creationId xmlns:p14="http://schemas.microsoft.com/office/powerpoint/2010/main" val="10309408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110"/>
        <p:cNvGrpSpPr/>
        <p:nvPr/>
      </p:nvGrpSpPr>
      <p:grpSpPr>
        <a:xfrm>
          <a:off x="0" y="0"/>
          <a:ext cx="0" cy="0"/>
          <a:chOff x="0" y="0"/>
          <a:chExt cx="0" cy="0"/>
        </a:xfrm>
      </p:grpSpPr>
      <p:sp>
        <p:nvSpPr>
          <p:cNvPr id="111" name="Google Shape;111;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672</TotalTime>
  <Words>729</Words>
  <Application>Microsoft Office PowerPoint</Application>
  <PresentationFormat>Widescreen</PresentationFormat>
  <Paragraphs>88</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Proxima Nova Rg</vt:lpstr>
      <vt:lpstr>Calibri</vt:lpstr>
      <vt:lpstr>Arial</vt:lpstr>
      <vt:lpstr>Proxima Nova</vt:lpstr>
      <vt:lpstr>Office Theme</vt:lpstr>
      <vt:lpstr>PowerPoint Presentation</vt:lpstr>
      <vt:lpstr>PowerPoint Presentation</vt:lpstr>
      <vt:lpstr>Outline</vt:lpstr>
      <vt:lpstr>Abstract</vt:lpstr>
      <vt:lpstr>Introduction</vt:lpstr>
      <vt:lpstr>Research Gap</vt:lpstr>
      <vt:lpstr>Work Flow</vt:lpstr>
      <vt:lpstr>Methodologies</vt:lpstr>
      <vt:lpstr>Non IID vs IID</vt:lpstr>
      <vt:lpstr>Non IID vs IID</vt:lpstr>
      <vt:lpstr>Non IID vs IID</vt:lpstr>
      <vt:lpstr>Tools and Technologies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Dev Sejpal</cp:lastModifiedBy>
  <cp:revision>25</cp:revision>
  <dcterms:created xsi:type="dcterms:W3CDTF">2023-12-05T07:58:00Z</dcterms:created>
  <dcterms:modified xsi:type="dcterms:W3CDTF">2026-01-03T03:31:08Z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2024-01-10T05:57:01Z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bdeac77a-6f2d-4eed-8d0b-c87a56de673f</vt:lpwstr>
  </property>
  <property fmtid="{D5CDD505-2E9C-101B-9397-08002B2CF9AE}" pid="7" name="MSIP_Label_defa4170-0d19-0005-0004-bc88714345d2_ActionId">
    <vt:lpwstr>2a20089b-7995-43de-aaf1-a4eb65220026</vt:lpwstr>
  </property>
  <property fmtid="{D5CDD505-2E9C-101B-9397-08002B2CF9AE}" pid="8" name="MSIP_Label_defa4170-0d19-0005-0004-bc88714345d2_ContentBits">
    <vt:lpwstr>0</vt:lpwstr>
  </property>
  <property fmtid="{D5CDD505-2E9C-101B-9397-08002B2CF9AE}" pid="9" name="ICV">
    <vt:lpwstr>64191B4E558B4A0A9654A2ABC4C501E4_12</vt:lpwstr>
  </property>
  <property fmtid="{D5CDD505-2E9C-101B-9397-08002B2CF9AE}" pid="10" name="KSOProductBuildVer">
    <vt:lpwstr>1033-12.2.0.22549</vt:lpwstr>
  </property>
</Properties>
</file>