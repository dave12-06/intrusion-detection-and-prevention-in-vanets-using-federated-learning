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70" r:id="rId6"/>
    <p:sldId id="264" r:id="rId7"/>
    <p:sldId id="276" r:id="rId8"/>
    <p:sldId id="278" r:id="rId9"/>
    <p:sldId id="272" r:id="rId10"/>
    <p:sldId id="265" r:id="rId11"/>
    <p:sldId id="277" r:id="rId12"/>
    <p:sldId id="260" r:id="rId13"/>
  </p:sldIdLst>
  <p:sldSz cx="12192000" cy="6858000"/>
  <p:notesSz cx="6858000" cy="9144000"/>
  <p:embeddedFontLst>
    <p:embeddedFont>
      <p:font typeface="Proxima Nova" panose="020B0604020202020204" charset="0"/>
      <p:regular r:id="rId15"/>
    </p:embeddedFont>
    <p:embeddedFont>
      <p:font typeface="Proxima Nova Rg" panose="02000506030000020004" charset="0"/>
      <p:regular r:id="rId16"/>
      <p: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0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D9D082B-6520-E5A1-DA84-6058457AFA2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1FA549C-3C89-D04E-6D11-1FC47E1E3A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283F8E4-C7DF-8D78-7FAC-752BA9AB57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6889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7B79146-C8D8-B6D3-9381-659EA6DF549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6E87366-54A7-B7CF-2227-6510F6E2E0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EABAB7AF-BFEA-6E21-B871-27B4137BEB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1579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C855F58-D31C-1F4C-5B56-ABC74543019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ED2562C-BB4B-F614-8F52-3C8072DC76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6DEAE18-B265-78B6-EA89-636842B641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2253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18D25-2D33-3816-864C-1EA0E7EA2DD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331D96B0-7CEF-D6D1-D880-7A73A129E6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76253354-60F4-32B6-FA88-DBB79390B5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3277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75C2A98-12A1-1A93-D1DC-4ECB3E153E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CA8565F-D844-D9BD-C2CA-62E4C00C6C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F880E9A-022A-9524-BAA4-FE57DAE958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1270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F7E3EF1-E42C-5BFF-7321-4F4C9BF2E3B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BB68469-87A7-227D-089D-EDA399B18A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B05FD198-773E-2425-A889-03B8485B19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1627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3B36645-36B9-857C-7567-86F4C6D1E5E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7C80501-E472-070C-6E5E-B09161E11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67BABEF3-3A85-5579-9AF6-9E7D118BA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1111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308591" y="3577294"/>
            <a:ext cx="6973173" cy="1015632"/>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rPr>
              <a:t>Team Member 1: </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Dev Sejpal (92200103134) (TC5)</a:t>
            </a:r>
            <a:endParaRPr dirty="0">
              <a:solidFill>
                <a:srgbClr val="FF0000"/>
              </a:solidFill>
              <a:latin typeface="Proxima Nova Rg" panose="02000506030000020004" pitchFamily="2" charset="0"/>
            </a:endParaRPr>
          </a:p>
          <a:p>
            <a:pPr lvl="0"/>
            <a:r>
              <a:rPr lang="en-US"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rPr>
              <a:t>Team Member 2: </a:t>
            </a:r>
            <a:r>
              <a:rPr lang="en-US" sz="1800"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Dharmil Parekh</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 (</a:t>
            </a:r>
            <a:r>
              <a:rPr lang="en-US" sz="1800"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92200103144</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 (TC5)</a:t>
            </a:r>
            <a:endParaRPr dirty="0">
              <a:solidFill>
                <a:srgbClr val="FF0000"/>
              </a:solidFill>
              <a:latin typeface="Proxima Nova Rg" panose="02000506030000020004" pitchFamily="2" charset="0"/>
            </a:endParaRPr>
          </a:p>
          <a:p>
            <a:pPr marL="0" marR="0" lvl="0" indent="0" algn="l" rtl="0">
              <a:spcBef>
                <a:spcPts val="0"/>
              </a:spcBef>
              <a:spcAft>
                <a:spcPts val="0"/>
              </a:spcAft>
              <a:buNone/>
            </a:pPr>
            <a:endParaRPr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89" name="Google Shape;89;p2"/>
          <p:cNvSpPr txBox="1"/>
          <p:nvPr/>
        </p:nvSpPr>
        <p:spPr>
          <a:xfrm>
            <a:off x="2468933" y="2754669"/>
            <a:ext cx="7494109" cy="782265"/>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b="1" dirty="0">
                <a:solidFill>
                  <a:srgbClr val="29B0C3"/>
                </a:solidFill>
                <a:latin typeface="Proxima Nova Rg" panose="02000506030000020004" pitchFamily="2" charset="0"/>
                <a:sym typeface="Proxima Nova" panose="02000506030000020004"/>
              </a:rPr>
              <a:t>Void Voyager: Endless Space Adventure Game</a:t>
            </a:r>
            <a:endParaRPr lang="en-US" b="1" dirty="0">
              <a:solidFill>
                <a:srgbClr val="29B0C3"/>
              </a:solidFill>
              <a:latin typeface="Proxima Nova Rg" panose="02000506030000020004" pitchFamily="2" charset="0"/>
            </a:endParaRPr>
          </a:p>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Team ID: </a:t>
            </a:r>
            <a:r>
              <a:rPr lang="en-US" sz="2200" b="0" i="0" u="none" strike="noStrike" cap="none" dirty="0" err="1">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xxxxx</a:t>
            </a:r>
            <a:endParaRPr sz="22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57310" y="4624957"/>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rPr>
              <a:t>Guided By</a:t>
            </a:r>
          </a:p>
        </p:txBody>
      </p:sp>
      <p:sp>
        <p:nvSpPr>
          <p:cNvPr id="91" name="Google Shape;91;p2"/>
          <p:cNvSpPr txBox="1"/>
          <p:nvPr/>
        </p:nvSpPr>
        <p:spPr>
          <a:xfrm>
            <a:off x="3745358" y="4950644"/>
            <a:ext cx="5742683" cy="461635"/>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rPr>
              <a:t>Internal Guide Name: </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Prof. Ravikumar Natrajan</a:t>
            </a:r>
            <a:endParaRPr lang="en-US" dirty="0">
              <a:latin typeface="Proxima Nova Rg" panose="02000506030000020004" pitchFamily="2" charset="0"/>
            </a:endParaRPr>
          </a:p>
        </p:txBody>
      </p:sp>
      <p:sp>
        <p:nvSpPr>
          <p:cNvPr id="93" name="Google Shape;93;p2"/>
          <p:cNvSpPr txBox="1"/>
          <p:nvPr/>
        </p:nvSpPr>
        <p:spPr>
          <a:xfrm>
            <a:off x="2545715" y="1392976"/>
            <a:ext cx="7095490" cy="1195199"/>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Major Project-</a:t>
            </a:r>
            <a:r>
              <a:rPr lang="en-IN" alt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II</a:t>
            </a:r>
            <a:r>
              <a:rPr 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(01CE0</a:t>
            </a:r>
            <a:r>
              <a:rPr lang="en-IN" altLang="en-US" sz="3200" i="0" u="none" strike="noStrike" cap="none"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rPr>
              <a:t>807</a:t>
            </a:r>
            <a:r>
              <a:rPr 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t>
            </a:r>
            <a:r>
              <a:rPr lang="en-IN" alt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Semester 8</a:t>
            </a:r>
            <a:endParaRPr sz="3200" dirty="0">
              <a:latin typeface="Proxima Nova Rg" panose="02000506030000020004" pitchFamily="2" charset="0"/>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Review 1 </a:t>
            </a:r>
            <a:b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b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t>
            </a:r>
            <a:r>
              <a:rPr lang="en-US" sz="22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08/11/2025</a:t>
            </a: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t>
            </a:r>
            <a:endParaRPr sz="22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94" name="Google Shape;94;p2"/>
          <p:cNvSpPr txBox="1"/>
          <p:nvPr/>
        </p:nvSpPr>
        <p:spPr>
          <a:xfrm>
            <a:off x="1804581" y="5573716"/>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Department of Computer Engineering,</a:t>
            </a:r>
            <a:br>
              <a:rPr lang="en-US" sz="24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br>
            <a:r>
              <a:rPr lang="en-US" sz="24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Faculty of Engineering &amp; Technology</a:t>
            </a:r>
            <a:r>
              <a:rPr lang="en-US" sz="36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endParaRPr sz="36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Outline</a:t>
            </a:r>
            <a:endParaRPr sz="2400" b="1" dirty="0">
              <a:latin typeface="Proxima Nova" panose="02000506030000020004"/>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A0DAD221-2742-2AB3-3472-39CC7B60B25B}"/>
              </a:ext>
            </a:extLst>
          </p:cNvPr>
          <p:cNvSpPr txBox="1"/>
          <p:nvPr/>
        </p:nvSpPr>
        <p:spPr>
          <a:xfrm>
            <a:off x="534259" y="1347170"/>
            <a:ext cx="5137392" cy="3785652"/>
          </a:xfrm>
          <a:prstGeom prst="rect">
            <a:avLst/>
          </a:prstGeom>
          <a:noFill/>
        </p:spPr>
        <p:txBody>
          <a:bodyPr wrap="square" rtlCol="0">
            <a:spAutoFit/>
          </a:bodyPr>
          <a:lstStyle/>
          <a:p>
            <a:pPr marL="342900" indent="-342900">
              <a:buFont typeface="Arial" panose="020B0604020202020204" pitchFamily="34" charset="0"/>
              <a:buChar char="•"/>
            </a:pPr>
            <a:r>
              <a:rPr lang="en-IN" sz="3000" dirty="0">
                <a:latin typeface="Proxima Nova Rg" panose="02000506030000020004" pitchFamily="2" charset="0"/>
              </a:rPr>
              <a:t>Abstract</a:t>
            </a:r>
          </a:p>
          <a:p>
            <a:pPr marL="342900" indent="-342900">
              <a:buFont typeface="Arial" panose="020B0604020202020204" pitchFamily="34" charset="0"/>
              <a:buChar char="•"/>
            </a:pPr>
            <a:r>
              <a:rPr lang="en-IN" sz="3000" dirty="0">
                <a:latin typeface="Proxima Nova Rg" panose="02000506030000020004" pitchFamily="2" charset="0"/>
              </a:rPr>
              <a:t>Introduction</a:t>
            </a:r>
          </a:p>
          <a:p>
            <a:pPr marL="342900" indent="-342900">
              <a:buFont typeface="Arial" panose="020B0604020202020204" pitchFamily="34" charset="0"/>
              <a:buChar char="•"/>
            </a:pPr>
            <a:r>
              <a:rPr lang="en-IN" sz="3000" dirty="0">
                <a:latin typeface="Proxima Nova Rg" panose="02000506030000020004" pitchFamily="2" charset="0"/>
              </a:rPr>
              <a:t>Literature Review</a:t>
            </a:r>
          </a:p>
          <a:p>
            <a:pPr marL="342900" indent="-342900">
              <a:buFont typeface="Arial" panose="020B0604020202020204" pitchFamily="34" charset="0"/>
              <a:buChar char="•"/>
            </a:pPr>
            <a:r>
              <a:rPr lang="en-IN" sz="3000" dirty="0">
                <a:latin typeface="Proxima Nova Rg" panose="02000506030000020004" pitchFamily="2" charset="0"/>
              </a:rPr>
              <a:t>Research Gap</a:t>
            </a:r>
          </a:p>
          <a:p>
            <a:pPr marL="342900" indent="-342900">
              <a:buFont typeface="Arial" panose="020B0604020202020204" pitchFamily="34" charset="0"/>
              <a:buChar char="•"/>
            </a:pPr>
            <a:r>
              <a:rPr lang="en-IN" sz="3000" dirty="0">
                <a:latin typeface="Proxima Nova Rg" panose="02000506030000020004" pitchFamily="2" charset="0"/>
              </a:rPr>
              <a:t>Work Flow</a:t>
            </a:r>
          </a:p>
          <a:p>
            <a:pPr marL="342900" indent="-342900">
              <a:buFont typeface="Arial" panose="020B0604020202020204" pitchFamily="34" charset="0"/>
              <a:buChar char="•"/>
            </a:pPr>
            <a:r>
              <a:rPr lang="en-IN" sz="3000" dirty="0">
                <a:latin typeface="Proxima Nova Rg" panose="02000506030000020004" pitchFamily="2" charset="0"/>
              </a:rPr>
              <a:t>Methodology</a:t>
            </a:r>
          </a:p>
          <a:p>
            <a:pPr marL="342900" indent="-342900">
              <a:buFont typeface="Arial" panose="020B0604020202020204" pitchFamily="34" charset="0"/>
              <a:buChar char="•"/>
            </a:pPr>
            <a:r>
              <a:rPr lang="en-IN" sz="3000" dirty="0">
                <a:latin typeface="Proxima Nova Rg" panose="02000506030000020004" pitchFamily="2" charset="0"/>
              </a:rPr>
              <a:t>Graphs</a:t>
            </a:r>
          </a:p>
          <a:p>
            <a:pPr marL="342900" indent="-342900">
              <a:buFont typeface="Arial" panose="020B0604020202020204" pitchFamily="34" charset="0"/>
              <a:buChar char="•"/>
            </a:pPr>
            <a:r>
              <a:rPr lang="en-IN" sz="3000" dirty="0">
                <a:latin typeface="Proxima Nova Rg" panose="02000506030000020004" pitchFamily="2" charset="0"/>
              </a:rPr>
              <a:t>Tools and Technologies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78784"/>
            <a:ext cx="3165222" cy="443711"/>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Abstract</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3" name="TextBox 2">
            <a:extLst>
              <a:ext uri="{FF2B5EF4-FFF2-40B4-BE49-F238E27FC236}">
                <a16:creationId xmlns:a16="http://schemas.microsoft.com/office/drawing/2014/main" id="{4C051811-7D7D-7BDA-18AC-4316F6ECA93E}"/>
              </a:ext>
            </a:extLst>
          </p:cNvPr>
          <p:cNvSpPr txBox="1"/>
          <p:nvPr/>
        </p:nvSpPr>
        <p:spPr>
          <a:xfrm>
            <a:off x="485397" y="1298604"/>
            <a:ext cx="11373881" cy="4190314"/>
          </a:xfrm>
          <a:prstGeom prst="rect">
            <a:avLst/>
          </a:prstGeom>
          <a:noFill/>
        </p:spPr>
        <p:txBody>
          <a:bodyPr wrap="square" rtlCol="0">
            <a:spAutoFit/>
          </a:bodyPr>
          <a:lstStyle/>
          <a:p>
            <a:pPr algn="just">
              <a:lnSpc>
                <a:spcPct val="150000"/>
              </a:lnSpc>
            </a:pPr>
            <a:r>
              <a:rPr lang="en-IN" sz="2000" dirty="0"/>
              <a:t>Vehicular Ad Hoc Networks (VANETs) form the backbone of modern intelligent transportation systems, enabling real-time communication between vehicles and roadside infrastructure. However, their decentralized and highly mobile nature exposes them to numerous cyber-threats, including </a:t>
            </a:r>
            <a:r>
              <a:rPr lang="en-IN" sz="2000" dirty="0" err="1"/>
              <a:t>gray</a:t>
            </a:r>
            <a:r>
              <a:rPr lang="en-IN" sz="2000" dirty="0"/>
              <a:t>-hole attacks, spoofing, false message injection, jamming, and CAN-bus manipulation. Conventional machine-learning-based intrusion detection systems require centralized data aggregation, raising privacy concerns, scalability limitations, and high communication overhead. To address these challenges, this work proposes a </a:t>
            </a:r>
            <a:r>
              <a:rPr lang="en-IN" sz="2000" b="1" dirty="0"/>
              <a:t>Federated Learning–enabled Intrusion Detection and Prevention System (FL-IDPS)</a:t>
            </a:r>
            <a:r>
              <a:rPr lang="en-IN" sz="2000" dirty="0"/>
              <a:t> that collaboratively learns global threat patterns without sharing raw vehicular data.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A30C0BB5-3DC8-E38E-317B-51E8ADDE905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F7D5A0C-028C-A4E5-19E5-B847255A45C9}"/>
              </a:ext>
            </a:extLst>
          </p:cNvPr>
          <p:cNvSpPr txBox="1">
            <a:spLocks noGrp="1"/>
          </p:cNvSpPr>
          <p:nvPr>
            <p:ph type="title"/>
          </p:nvPr>
        </p:nvSpPr>
        <p:spPr>
          <a:xfrm>
            <a:off x="534259" y="278784"/>
            <a:ext cx="3165222" cy="443711"/>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Introduction</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3" name="TextBox 2">
            <a:extLst>
              <a:ext uri="{FF2B5EF4-FFF2-40B4-BE49-F238E27FC236}">
                <a16:creationId xmlns:a16="http://schemas.microsoft.com/office/drawing/2014/main" id="{926A84E0-BD9B-9291-C9A2-DD01985BBC1D}"/>
              </a:ext>
            </a:extLst>
          </p:cNvPr>
          <p:cNvSpPr txBox="1"/>
          <p:nvPr/>
        </p:nvSpPr>
        <p:spPr>
          <a:xfrm>
            <a:off x="534259" y="1289819"/>
            <a:ext cx="11373881" cy="3728649"/>
          </a:xfrm>
          <a:prstGeom prst="rect">
            <a:avLst/>
          </a:prstGeom>
          <a:noFill/>
        </p:spPr>
        <p:txBody>
          <a:bodyPr wrap="square" rtlCol="0">
            <a:spAutoFit/>
          </a:bodyPr>
          <a:lstStyle/>
          <a:p>
            <a:pPr algn="just">
              <a:lnSpc>
                <a:spcPct val="150000"/>
              </a:lnSpc>
            </a:pPr>
            <a:r>
              <a:rPr lang="en-IN" sz="2000" dirty="0"/>
              <a:t>The rapid deployment of connected and autonomous vehicles has intensified the reliance on VANETs for safety-critical communication such as collision avoidance, cooperative sensing, and traffic optimization. Due to their open wireless communication medium, high-speed topology changes, and lack of centralized control, VANETs remain highly vulnerable to cyberattacks that compromise vehicle safety and transportation integrity. Federated Learning (FL) offers a promising alternative by enabling privacy-preserving collaborative model training across distributed vehicular nodes. In this context, this research presents an optimized FL-driven intrusion detection and prevention framework.</a:t>
            </a:r>
          </a:p>
        </p:txBody>
      </p:sp>
    </p:spTree>
    <p:extLst>
      <p:ext uri="{BB962C8B-B14F-4D97-AF65-F5344CB8AC3E}">
        <p14:creationId xmlns:p14="http://schemas.microsoft.com/office/powerpoint/2010/main" val="309834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323435D8-338D-531F-1AE6-859CDEDCC35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F9F83AA6-A1F8-F9E0-FC42-AFDB11002D1F}"/>
              </a:ext>
            </a:extLst>
          </p:cNvPr>
          <p:cNvSpPr txBox="1">
            <a:spLocks noGrp="1"/>
          </p:cNvSpPr>
          <p:nvPr>
            <p:ph type="title"/>
          </p:nvPr>
        </p:nvSpPr>
        <p:spPr>
          <a:xfrm>
            <a:off x="534259" y="278784"/>
            <a:ext cx="3695714"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Research Gap</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B4077034-0663-9B10-C988-6E1D690B7ED0}"/>
              </a:ext>
            </a:extLst>
          </p:cNvPr>
          <p:cNvSpPr txBox="1"/>
          <p:nvPr/>
        </p:nvSpPr>
        <p:spPr>
          <a:xfrm>
            <a:off x="451530" y="1001712"/>
            <a:ext cx="11073735" cy="4651979"/>
          </a:xfrm>
          <a:prstGeom prst="rect">
            <a:avLst/>
          </a:prstGeom>
          <a:noFill/>
        </p:spPr>
        <p:txBody>
          <a:bodyPr wrap="square" rtlCol="0">
            <a:spAutoFit/>
          </a:bodyPr>
          <a:lstStyle/>
          <a:p>
            <a:pPr algn="just">
              <a:lnSpc>
                <a:spcPct val="150000"/>
              </a:lnSpc>
            </a:pPr>
            <a:r>
              <a:rPr lang="en-IN" sz="2000" dirty="0"/>
              <a:t>Although significant progress has been made in ML-based and DL-based IDS for vehicular networks most existing solutions rely on centralized training, which is incompatible with VANET privacy constraints, high mobility, and heterogeneous data distributions. Federated Learning–based IDS approaches have emerged, yet they remain limited in handling VANET-specific challenges such as non-IID data caused by varying road conditions, inconsistent driver </a:t>
            </a:r>
            <a:r>
              <a:rPr lang="en-IN" sz="2000" dirty="0" err="1"/>
              <a:t>behavior</a:t>
            </a:r>
            <a:r>
              <a:rPr lang="en-IN" sz="2000" dirty="0"/>
              <a:t>, and intermittent connectivity. Furthermore, current FL vehicular IDS solutions do not fully address real-time computation constraints. Therefore, there is a critical need for a </a:t>
            </a:r>
            <a:r>
              <a:rPr lang="en-IN" sz="2000" b="1" dirty="0"/>
              <a:t>scalable, privacy-preserving, real-time FL-based IDS</a:t>
            </a:r>
            <a:r>
              <a:rPr lang="en-IN" sz="2000" dirty="0"/>
              <a:t> that integrates cross-layer VANET features, supports continuous online learning, maintains adversarial robustness, and achieves high detection accuracy under mobility-driven non-IID data distributions.</a:t>
            </a:r>
          </a:p>
        </p:txBody>
      </p:sp>
    </p:spTree>
    <p:extLst>
      <p:ext uri="{BB962C8B-B14F-4D97-AF65-F5344CB8AC3E}">
        <p14:creationId xmlns:p14="http://schemas.microsoft.com/office/powerpoint/2010/main" val="388186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739F798C-84F9-67F5-49CE-A8435D998DF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EF5D944-2D3A-36D0-54A5-932F6070490D}"/>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Work Flow</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4" name="Picture 3">
            <a:extLst>
              <a:ext uri="{FF2B5EF4-FFF2-40B4-BE49-F238E27FC236}">
                <a16:creationId xmlns:a16="http://schemas.microsoft.com/office/drawing/2014/main" id="{3C98A6AA-9D86-22AE-1585-9DAEF7980E47}"/>
              </a:ext>
            </a:extLst>
          </p:cNvPr>
          <p:cNvPicPr>
            <a:picLocks noChangeAspect="1"/>
          </p:cNvPicPr>
          <p:nvPr/>
        </p:nvPicPr>
        <p:blipFill>
          <a:blip r:embed="rId4"/>
          <a:stretch>
            <a:fillRect/>
          </a:stretch>
        </p:blipFill>
        <p:spPr>
          <a:xfrm>
            <a:off x="534258" y="1130004"/>
            <a:ext cx="10664684" cy="5321907"/>
          </a:xfrm>
          <a:prstGeom prst="rect">
            <a:avLst/>
          </a:prstGeom>
        </p:spPr>
      </p:pic>
    </p:spTree>
    <p:extLst>
      <p:ext uri="{BB962C8B-B14F-4D97-AF65-F5344CB8AC3E}">
        <p14:creationId xmlns:p14="http://schemas.microsoft.com/office/powerpoint/2010/main" val="829093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9A0EA008-B680-66DF-789D-04E2DA8A34A7}"/>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68AF58BB-A6D2-4410-D667-6AF3F24A059D}"/>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METHODOLOGIES</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AC8F41E0-F29B-D451-D638-0ED485C607DD}"/>
              </a:ext>
            </a:extLst>
          </p:cNvPr>
          <p:cNvSpPr txBox="1"/>
          <p:nvPr/>
        </p:nvSpPr>
        <p:spPr>
          <a:xfrm>
            <a:off x="534258" y="1086652"/>
            <a:ext cx="11073735" cy="5078313"/>
          </a:xfrm>
          <a:prstGeom prst="rect">
            <a:avLst/>
          </a:prstGeom>
          <a:noFill/>
        </p:spPr>
        <p:txBody>
          <a:bodyPr wrap="square" rtlCol="0">
            <a:spAutoFit/>
          </a:bodyPr>
          <a:lstStyle/>
          <a:p>
            <a:pPr algn="just">
              <a:lnSpc>
                <a:spcPct val="150000"/>
              </a:lnSpc>
            </a:pPr>
            <a:r>
              <a:rPr lang="en-US" sz="2000" dirty="0"/>
              <a:t>The proposed system employs a Federated Learning (FL)-based methodology to develop a privacy-preserving Intrusion Detection and Prevention System (IDPS) using the UNSW-NB15 dataset. The dataset is first preprocessed by loading it from Google Drive, selecting only relevant numerical features, separating the target variable, and applying normalization using the </a:t>
            </a:r>
            <a:r>
              <a:rPr lang="en-US" sz="2000" dirty="0" err="1"/>
              <a:t>StandardScaler</a:t>
            </a:r>
            <a:r>
              <a:rPr lang="en-US" sz="2000" dirty="0"/>
              <a:t> to ensure uniform feature distribution suitable for neural network training. After preprocessing, the dataset is partitioned into multiple subsets, each representing an independent FL client. In this decentralized setup, each client trains a local Multi-Layer Perceptron (</a:t>
            </a:r>
            <a:r>
              <a:rPr lang="en-US" sz="2000" dirty="0" err="1"/>
              <a:t>MLPClassifier</a:t>
            </a:r>
            <a:r>
              <a:rPr lang="en-US" sz="2000" dirty="0"/>
              <a:t>) model on its respective data portion, without sharing raw data, thereby maintaining privacy. During each communication round, the global model’s parameters are distributed to the clients, trained locally, and then the updated weights are returned. </a:t>
            </a:r>
          </a:p>
          <a:p>
            <a:endParaRPr lang="en-US" sz="2400" dirty="0">
              <a:latin typeface="Proxima Nova Rg" panose="02000506030000020004" pitchFamily="2" charset="0"/>
            </a:endParaRPr>
          </a:p>
        </p:txBody>
      </p:sp>
    </p:spTree>
    <p:extLst>
      <p:ext uri="{BB962C8B-B14F-4D97-AF65-F5344CB8AC3E}">
        <p14:creationId xmlns:p14="http://schemas.microsoft.com/office/powerpoint/2010/main" val="2567626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93070FF7-23B2-D8BA-D8C5-1736FECAED3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5E0BDE9C-DCF4-AA95-894A-F41E095031FD}"/>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METHODOLOGIES</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BC3A22F6-BB97-066E-F88D-D6F4516E8054}"/>
              </a:ext>
            </a:extLst>
          </p:cNvPr>
          <p:cNvSpPr txBox="1"/>
          <p:nvPr/>
        </p:nvSpPr>
        <p:spPr>
          <a:xfrm>
            <a:off x="534258" y="1161223"/>
            <a:ext cx="11073735" cy="5575309"/>
          </a:xfrm>
          <a:prstGeom prst="rect">
            <a:avLst/>
          </a:prstGeom>
          <a:noFill/>
        </p:spPr>
        <p:txBody>
          <a:bodyPr wrap="square" rtlCol="0">
            <a:spAutoFit/>
          </a:bodyPr>
          <a:lstStyle/>
          <a:p>
            <a:pPr algn="just">
              <a:lnSpc>
                <a:spcPct val="150000"/>
              </a:lnSpc>
            </a:pPr>
            <a:r>
              <a:rPr lang="en-US" sz="2000" dirty="0"/>
              <a:t>These weights are aggregated at the central server using the Federated Averaging (</a:t>
            </a:r>
            <a:r>
              <a:rPr lang="en-US" sz="2000" dirty="0" err="1"/>
              <a:t>FedAvg</a:t>
            </a:r>
            <a:r>
              <a:rPr lang="en-US" sz="2000" dirty="0"/>
              <a:t>) algorithm, where model parameters from all clients are averaged layer-wise to update the global model. This iterative process continues for multiple rounds until convergence is achieved. After training, the final global FL model is evaluated on the test set to perform intrusion detection by classifying traffic as normal or attack. To enhance security operations, a rule-based intrusion prevention mechanism is integrated, where samples predicted as attacks are automatically assigned a BLOCK action, while normal traffic is </a:t>
            </a:r>
            <a:r>
              <a:rPr lang="en-US" sz="2000" dirty="0" err="1"/>
              <a:t>ALLOWed</a:t>
            </a:r>
            <a:r>
              <a:rPr lang="en-US" sz="2000" dirty="0"/>
              <a:t>. The system’s performance is finally evaluated using standard classification metrics such as accuracy, precision, recall, F1-score, and confusion matrix, along with IPS-level assessments such as attack blocking rate, false positives, and false negatives. This methodology ensures robust, decentralized, and privacy-preserving intrusion detection and prevention.</a:t>
            </a:r>
            <a:endParaRPr lang="en-US" sz="2000" dirty="0">
              <a:latin typeface="Proxima Nova Rg" panose="02000506030000020004" pitchFamily="2" charset="0"/>
            </a:endParaRPr>
          </a:p>
          <a:p>
            <a:pPr algn="just">
              <a:lnSpc>
                <a:spcPct val="150000"/>
              </a:lnSpc>
            </a:pPr>
            <a:endParaRPr lang="en-US" sz="2000" dirty="0"/>
          </a:p>
        </p:txBody>
      </p:sp>
    </p:spTree>
    <p:extLst>
      <p:ext uri="{BB962C8B-B14F-4D97-AF65-F5344CB8AC3E}">
        <p14:creationId xmlns:p14="http://schemas.microsoft.com/office/powerpoint/2010/main" val="4196395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F1B9C3D3-C5C4-A37B-871B-827F16F685A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A74ED9B-4852-0D84-0B36-68E851AAA893}"/>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rPr>
              <a:t>Graphs</a:t>
            </a:r>
            <a:endParaRPr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4" name="Picture 3">
            <a:extLst>
              <a:ext uri="{FF2B5EF4-FFF2-40B4-BE49-F238E27FC236}">
                <a16:creationId xmlns:a16="http://schemas.microsoft.com/office/drawing/2014/main" id="{77EB324C-E3AB-C812-B2D7-9D8E7B25482C}"/>
              </a:ext>
            </a:extLst>
          </p:cNvPr>
          <p:cNvPicPr>
            <a:picLocks noChangeAspect="1"/>
          </p:cNvPicPr>
          <p:nvPr/>
        </p:nvPicPr>
        <p:blipFill>
          <a:blip r:embed="rId4"/>
          <a:stretch>
            <a:fillRect/>
          </a:stretch>
        </p:blipFill>
        <p:spPr>
          <a:xfrm>
            <a:off x="465432" y="1214470"/>
            <a:ext cx="5117702" cy="4548201"/>
          </a:xfrm>
          <a:prstGeom prst="rect">
            <a:avLst/>
          </a:prstGeom>
        </p:spPr>
      </p:pic>
      <p:pic>
        <p:nvPicPr>
          <p:cNvPr id="6" name="Picture 5">
            <a:extLst>
              <a:ext uri="{FF2B5EF4-FFF2-40B4-BE49-F238E27FC236}">
                <a16:creationId xmlns:a16="http://schemas.microsoft.com/office/drawing/2014/main" id="{588A8CA0-07A0-B6A5-0125-E7564E4152B3}"/>
              </a:ext>
            </a:extLst>
          </p:cNvPr>
          <p:cNvPicPr>
            <a:picLocks noChangeAspect="1"/>
          </p:cNvPicPr>
          <p:nvPr/>
        </p:nvPicPr>
        <p:blipFill>
          <a:blip r:embed="rId5"/>
          <a:stretch>
            <a:fillRect/>
          </a:stretch>
        </p:blipFill>
        <p:spPr>
          <a:xfrm>
            <a:off x="6096000" y="1415364"/>
            <a:ext cx="5729137" cy="4146411"/>
          </a:xfrm>
          <a:prstGeom prst="rect">
            <a:avLst/>
          </a:prstGeom>
        </p:spPr>
      </p:pic>
      <p:sp>
        <p:nvSpPr>
          <p:cNvPr id="7" name="TextBox 6">
            <a:extLst>
              <a:ext uri="{FF2B5EF4-FFF2-40B4-BE49-F238E27FC236}">
                <a16:creationId xmlns:a16="http://schemas.microsoft.com/office/drawing/2014/main" id="{A35179B8-500C-00C5-4B88-36542E5B688E}"/>
              </a:ext>
            </a:extLst>
          </p:cNvPr>
          <p:cNvSpPr txBox="1"/>
          <p:nvPr/>
        </p:nvSpPr>
        <p:spPr>
          <a:xfrm>
            <a:off x="2222091" y="6007511"/>
            <a:ext cx="2477728" cy="338554"/>
          </a:xfrm>
          <a:prstGeom prst="rect">
            <a:avLst/>
          </a:prstGeom>
          <a:noFill/>
        </p:spPr>
        <p:txBody>
          <a:bodyPr wrap="square" rtlCol="0">
            <a:spAutoFit/>
          </a:bodyPr>
          <a:lstStyle/>
          <a:p>
            <a:r>
              <a:rPr lang="en-US" sz="1600" dirty="0"/>
              <a:t>a.) Confusion Matrix</a:t>
            </a:r>
            <a:endParaRPr lang="en-IN" sz="1600" dirty="0"/>
          </a:p>
        </p:txBody>
      </p:sp>
      <p:sp>
        <p:nvSpPr>
          <p:cNvPr id="8" name="TextBox 7">
            <a:extLst>
              <a:ext uri="{FF2B5EF4-FFF2-40B4-BE49-F238E27FC236}">
                <a16:creationId xmlns:a16="http://schemas.microsoft.com/office/drawing/2014/main" id="{8E4EDD60-6384-00ED-63FF-EA0B4FE341B8}"/>
              </a:ext>
            </a:extLst>
          </p:cNvPr>
          <p:cNvSpPr txBox="1"/>
          <p:nvPr/>
        </p:nvSpPr>
        <p:spPr>
          <a:xfrm>
            <a:off x="8352502" y="6007511"/>
            <a:ext cx="3234813" cy="338554"/>
          </a:xfrm>
          <a:prstGeom prst="rect">
            <a:avLst/>
          </a:prstGeom>
          <a:noFill/>
        </p:spPr>
        <p:txBody>
          <a:bodyPr wrap="square" rtlCol="0">
            <a:spAutoFit/>
          </a:bodyPr>
          <a:lstStyle/>
          <a:p>
            <a:r>
              <a:rPr lang="en-US" sz="1600" dirty="0"/>
              <a:t>b.) Bar Chart</a:t>
            </a:r>
            <a:endParaRPr lang="en-IN" sz="1600" dirty="0"/>
          </a:p>
        </p:txBody>
      </p:sp>
    </p:spTree>
    <p:extLst>
      <p:ext uri="{BB962C8B-B14F-4D97-AF65-F5344CB8AC3E}">
        <p14:creationId xmlns:p14="http://schemas.microsoft.com/office/powerpoint/2010/main" val="3668339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DE121E87-A4CC-A8B3-74B5-630E23E7BADA}"/>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AB258E64-AE66-E811-42C7-2E9CE77D773F}"/>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Tools and Technologies</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53D42994-69A8-9129-236B-0560A01281FA}"/>
              </a:ext>
            </a:extLst>
          </p:cNvPr>
          <p:cNvSpPr txBox="1"/>
          <p:nvPr/>
        </p:nvSpPr>
        <p:spPr>
          <a:xfrm>
            <a:off x="485397" y="1450445"/>
            <a:ext cx="11073735" cy="420326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000" dirty="0"/>
              <a:t>Google Colab</a:t>
            </a:r>
          </a:p>
          <a:p>
            <a:pPr marL="342900" indent="-342900" algn="just">
              <a:lnSpc>
                <a:spcPct val="150000"/>
              </a:lnSpc>
              <a:buFont typeface="Arial" panose="020B0604020202020204" pitchFamily="34" charset="0"/>
              <a:buChar char="•"/>
            </a:pPr>
            <a:r>
              <a:rPr lang="en-IN" sz="2000" dirty="0"/>
              <a:t>Python 3.x</a:t>
            </a:r>
          </a:p>
          <a:p>
            <a:pPr marL="342900" indent="-342900" algn="just">
              <a:lnSpc>
                <a:spcPct val="150000"/>
              </a:lnSpc>
              <a:buFont typeface="Arial" panose="020B0604020202020204" pitchFamily="34" charset="0"/>
              <a:buChar char="•"/>
            </a:pPr>
            <a:r>
              <a:rPr lang="en-IN" sz="2000" dirty="0"/>
              <a:t>Data Science Libraries : Pandas</a:t>
            </a:r>
          </a:p>
          <a:p>
            <a:pPr algn="just">
              <a:lnSpc>
                <a:spcPct val="150000"/>
              </a:lnSpc>
            </a:pPr>
            <a:r>
              <a:rPr lang="en-IN" sz="2000" dirty="0">
                <a:latin typeface="Proxima Nova Rg" panose="02000506030000020004" pitchFamily="2" charset="0"/>
              </a:rPr>
              <a:t>			      </a:t>
            </a:r>
            <a:r>
              <a:rPr lang="en-IN" sz="2000" dirty="0"/>
              <a:t>NumPy</a:t>
            </a:r>
          </a:p>
          <a:p>
            <a:pPr algn="just">
              <a:lnSpc>
                <a:spcPct val="150000"/>
              </a:lnSpc>
            </a:pPr>
            <a:r>
              <a:rPr lang="en-IN" sz="2000" dirty="0">
                <a:latin typeface="Proxima Nova Rg" panose="02000506030000020004" pitchFamily="2" charset="0"/>
              </a:rPr>
              <a:t>			      </a:t>
            </a:r>
            <a:r>
              <a:rPr lang="en-IN" sz="2000" dirty="0"/>
              <a:t>Scikit-learn</a:t>
            </a:r>
          </a:p>
          <a:p>
            <a:pPr marL="342900" indent="-342900" algn="just">
              <a:lnSpc>
                <a:spcPct val="150000"/>
              </a:lnSpc>
              <a:buFont typeface="Arial" panose="020B0604020202020204" pitchFamily="34" charset="0"/>
              <a:buChar char="•"/>
            </a:pPr>
            <a:r>
              <a:rPr lang="en-IN" sz="2000" dirty="0"/>
              <a:t>Machine Learning for IDS : </a:t>
            </a:r>
            <a:r>
              <a:rPr lang="en-IN" sz="2000" dirty="0" err="1"/>
              <a:t>MLPClassifier</a:t>
            </a:r>
            <a:r>
              <a:rPr lang="en-IN" sz="2000" dirty="0"/>
              <a:t> (Multi-Layer Perceptron)</a:t>
            </a:r>
          </a:p>
          <a:p>
            <a:pPr algn="just">
              <a:lnSpc>
                <a:spcPct val="150000"/>
              </a:lnSpc>
            </a:pPr>
            <a:r>
              <a:rPr lang="en-IN" sz="2000" dirty="0"/>
              <a:t>			          </a:t>
            </a:r>
            <a:r>
              <a:rPr lang="en-IN" sz="2000" dirty="0" err="1"/>
              <a:t>StandardScaler</a:t>
            </a:r>
            <a:endParaRPr lang="en-IN" sz="2000" dirty="0"/>
          </a:p>
          <a:p>
            <a:pPr marL="342900" indent="-342900" algn="just">
              <a:lnSpc>
                <a:spcPct val="150000"/>
              </a:lnSpc>
              <a:buFont typeface="Arial" panose="020B0604020202020204" pitchFamily="34" charset="0"/>
              <a:buChar char="•"/>
            </a:pPr>
            <a:r>
              <a:rPr lang="en-IN" sz="2000" dirty="0"/>
              <a:t>Visualization Tools : Matplotlib</a:t>
            </a:r>
          </a:p>
          <a:p>
            <a:pPr algn="just">
              <a:lnSpc>
                <a:spcPct val="150000"/>
              </a:lnSpc>
            </a:pPr>
            <a:r>
              <a:rPr lang="en-IN" sz="2000" dirty="0">
                <a:latin typeface="Proxima Nova Rg" panose="02000506030000020004" pitchFamily="2" charset="0"/>
              </a:rPr>
              <a:t>		             </a:t>
            </a:r>
            <a:r>
              <a:rPr lang="en-IN" sz="2000" dirty="0"/>
              <a:t>Seaborn</a:t>
            </a:r>
            <a:endParaRPr lang="en-US" sz="2000" dirty="0">
              <a:latin typeface="Proxima Nova Rg" panose="02000506030000020004" pitchFamily="2" charset="0"/>
            </a:endParaRPr>
          </a:p>
        </p:txBody>
      </p:sp>
    </p:spTree>
    <p:extLst>
      <p:ext uri="{BB962C8B-B14F-4D97-AF65-F5344CB8AC3E}">
        <p14:creationId xmlns:p14="http://schemas.microsoft.com/office/powerpoint/2010/main" val="289879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0"/>
        <p:cNvGrpSpPr/>
        <p:nvPr/>
      </p:nvGrpSpPr>
      <p:grpSpPr>
        <a:xfrm>
          <a:off x="0" y="0"/>
          <a:ext cx="0" cy="0"/>
          <a:chOff x="0" y="0"/>
          <a:chExt cx="0" cy="0"/>
        </a:xfrm>
      </p:grpSpPr>
      <p:sp>
        <p:nvSpPr>
          <p:cNvPr id="111" name="Google Shape;11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787</Words>
  <Application>Microsoft Office PowerPoint</Application>
  <PresentationFormat>Widescreen</PresentationFormat>
  <Paragraphs>42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Proxima Nova Rg</vt:lpstr>
      <vt:lpstr>Arial</vt:lpstr>
      <vt:lpstr>Proxima Nova</vt:lpstr>
      <vt:lpstr>Calibri</vt:lpstr>
      <vt:lpstr>Office Theme</vt:lpstr>
      <vt:lpstr>PowerPoint Presentation</vt:lpstr>
      <vt:lpstr>PowerPoint Presentation</vt:lpstr>
      <vt:lpstr>Outline</vt:lpstr>
      <vt:lpstr>Abstract</vt:lpstr>
      <vt:lpstr>Introduction</vt:lpstr>
      <vt:lpstr>Research Gap</vt:lpstr>
      <vt:lpstr>Work Flow</vt:lpstr>
      <vt:lpstr>METHODOLOGIES</vt:lpstr>
      <vt:lpstr>METHODOLOGIES</vt:lpstr>
      <vt:lpstr>Graphs</vt:lpstr>
      <vt:lpstr>Tools and Technologies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Dev Sejpal</cp:lastModifiedBy>
  <cp:revision>23</cp:revision>
  <dcterms:created xsi:type="dcterms:W3CDTF">2023-12-05T07:58:00Z</dcterms:created>
  <dcterms:modified xsi:type="dcterms:W3CDTF">2025-11-15T18:18:23Z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1033-12.2.0.22549</vt:lpwstr>
  </property>
</Properties>
</file>